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57" r:id="rId5"/>
    <p:sldId id="260" r:id="rId6"/>
    <p:sldId id="261" r:id="rId7"/>
    <p:sldId id="264" r:id="rId8"/>
    <p:sldId id="265" r:id="rId9"/>
    <p:sldId id="263" r:id="rId10"/>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6810"/>
  </p:normalViewPr>
  <p:slideViewPr>
    <p:cSldViewPr snapToGrid="0">
      <p:cViewPr>
        <p:scale>
          <a:sx n="84" d="100"/>
          <a:sy n="84"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E3DBB-46BC-A548-BE98-75579AB3D586}" type="datetimeFigureOut">
              <a:rPr lang="en-DE" smtClean="0"/>
              <a:t>08.01.24</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5660D2-58A4-FA4B-9BCA-D617AB0659A8}" type="slidenum">
              <a:rPr lang="en-DE" smtClean="0"/>
              <a:t>‹#›</a:t>
            </a:fld>
            <a:endParaRPr lang="en-DE"/>
          </a:p>
        </p:txBody>
      </p:sp>
    </p:spTree>
    <p:extLst>
      <p:ext uri="{BB962C8B-B14F-4D97-AF65-F5344CB8AC3E}">
        <p14:creationId xmlns:p14="http://schemas.microsoft.com/office/powerpoint/2010/main" val="1015644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What about potential confounders that influence the probability of voting RWP as well as climate sceptisim ?? Confounders th</a:t>
            </a:r>
            <a:r>
              <a:rPr lang="en-GB" dirty="0"/>
              <a:t>at</a:t>
            </a:r>
            <a:r>
              <a:rPr lang="en-DE" dirty="0"/>
              <a:t> influence the treatment ( voting for RWP) as well as the outcome ( hostility to climate policies). Alternatively, not focusing on the causal impact, but instead the influence of RWP on outcome when holding only economic conditions constant. This means no causality. But still assessing to what extend the structuralist approach is better at explaining climate hostility. </a:t>
            </a:r>
            <a:br>
              <a:rPr lang="en-DE" dirty="0"/>
            </a:br>
            <a:br>
              <a:rPr lang="en-DE" dirty="0"/>
            </a:br>
            <a:endParaRPr lang="en-DE" dirty="0"/>
          </a:p>
          <a:p>
            <a:r>
              <a:rPr lang="en-DE" dirty="0"/>
              <a:t>Comparing the R2 of the structuralist approach in explaining the outcome ( hostility to climate policies) to the Ideological approach </a:t>
            </a:r>
          </a:p>
          <a:p>
            <a:r>
              <a:rPr lang="en-DE" dirty="0"/>
              <a:t>	- </a:t>
            </a:r>
          </a:p>
        </p:txBody>
      </p:sp>
      <p:sp>
        <p:nvSpPr>
          <p:cNvPr id="4" name="Slide Number Placeholder 3"/>
          <p:cNvSpPr>
            <a:spLocks noGrp="1"/>
          </p:cNvSpPr>
          <p:nvPr>
            <p:ph type="sldNum" sz="quarter" idx="5"/>
          </p:nvPr>
        </p:nvSpPr>
        <p:spPr/>
        <p:txBody>
          <a:bodyPr/>
          <a:lstStyle/>
          <a:p>
            <a:fld id="{265660D2-58A4-FA4B-9BCA-D617AB0659A8}" type="slidenum">
              <a:rPr lang="en-DE" smtClean="0"/>
              <a:t>5</a:t>
            </a:fld>
            <a:endParaRPr lang="en-DE"/>
          </a:p>
        </p:txBody>
      </p:sp>
    </p:spTree>
    <p:extLst>
      <p:ext uri="{BB962C8B-B14F-4D97-AF65-F5344CB8AC3E}">
        <p14:creationId xmlns:p14="http://schemas.microsoft.com/office/powerpoint/2010/main" val="27480774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What about time periods </a:t>
            </a:r>
          </a:p>
        </p:txBody>
      </p:sp>
      <p:sp>
        <p:nvSpPr>
          <p:cNvPr id="4" name="Slide Number Placeholder 3"/>
          <p:cNvSpPr>
            <a:spLocks noGrp="1"/>
          </p:cNvSpPr>
          <p:nvPr>
            <p:ph type="sldNum" sz="quarter" idx="5"/>
          </p:nvPr>
        </p:nvSpPr>
        <p:spPr/>
        <p:txBody>
          <a:bodyPr/>
          <a:lstStyle/>
          <a:p>
            <a:fld id="{265660D2-58A4-FA4B-9BCA-D617AB0659A8}" type="slidenum">
              <a:rPr lang="en-DE" smtClean="0"/>
              <a:t>6</a:t>
            </a:fld>
            <a:endParaRPr lang="en-DE"/>
          </a:p>
        </p:txBody>
      </p:sp>
    </p:spTree>
    <p:extLst>
      <p:ext uri="{BB962C8B-B14F-4D97-AF65-F5344CB8AC3E}">
        <p14:creationId xmlns:p14="http://schemas.microsoft.com/office/powerpoint/2010/main" val="3014537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265660D2-58A4-FA4B-9BCA-D617AB0659A8}" type="slidenum">
              <a:rPr lang="en-DE" smtClean="0"/>
              <a:t>7</a:t>
            </a:fld>
            <a:endParaRPr lang="en-DE"/>
          </a:p>
        </p:txBody>
      </p:sp>
    </p:spTree>
    <p:extLst>
      <p:ext uri="{BB962C8B-B14F-4D97-AF65-F5344CB8AC3E}">
        <p14:creationId xmlns:p14="http://schemas.microsoft.com/office/powerpoint/2010/main" val="3483146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Matching equivalent to Conditional Average treatment effect?</a:t>
            </a:r>
            <a:br>
              <a:rPr lang="en-DE" dirty="0"/>
            </a:br>
            <a:br>
              <a:rPr lang="en-DE" dirty="0"/>
            </a:br>
            <a:r>
              <a:rPr lang="en-DE" dirty="0"/>
              <a:t>N</a:t>
            </a:r>
            <a:r>
              <a:rPr lang="en-GB" dirty="0"/>
              <a:t>o</a:t>
            </a:r>
            <a:r>
              <a:rPr lang="en-DE" dirty="0"/>
              <a:t>t necessarily causal model, but instead, one can see how much more R2 of climate hostility is explained by the people that voted for RWP in comparison of those who did not. </a:t>
            </a:r>
            <a:br>
              <a:rPr lang="en-DE" dirty="0"/>
            </a:br>
            <a:br>
              <a:rPr lang="en-DE" dirty="0"/>
            </a:br>
            <a:r>
              <a:rPr lang="en-DE" dirty="0"/>
              <a:t>What about time periods ? </a:t>
            </a:r>
          </a:p>
        </p:txBody>
      </p:sp>
      <p:sp>
        <p:nvSpPr>
          <p:cNvPr id="4" name="Slide Number Placeholder 3"/>
          <p:cNvSpPr>
            <a:spLocks noGrp="1"/>
          </p:cNvSpPr>
          <p:nvPr>
            <p:ph type="sldNum" sz="quarter" idx="5"/>
          </p:nvPr>
        </p:nvSpPr>
        <p:spPr/>
        <p:txBody>
          <a:bodyPr/>
          <a:lstStyle/>
          <a:p>
            <a:fld id="{265660D2-58A4-FA4B-9BCA-D617AB0659A8}" type="slidenum">
              <a:rPr lang="en-DE" smtClean="0"/>
              <a:t>8</a:t>
            </a:fld>
            <a:endParaRPr lang="en-DE"/>
          </a:p>
        </p:txBody>
      </p:sp>
    </p:spTree>
    <p:extLst>
      <p:ext uri="{BB962C8B-B14F-4D97-AF65-F5344CB8AC3E}">
        <p14:creationId xmlns:p14="http://schemas.microsoft.com/office/powerpoint/2010/main" val="803162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Most are a result of economic effects -&gt; therefore mediators, not control them for </a:t>
            </a:r>
          </a:p>
        </p:txBody>
      </p:sp>
      <p:sp>
        <p:nvSpPr>
          <p:cNvPr id="4" name="Slide Number Placeholder 3"/>
          <p:cNvSpPr>
            <a:spLocks noGrp="1"/>
          </p:cNvSpPr>
          <p:nvPr>
            <p:ph type="sldNum" sz="quarter" idx="5"/>
          </p:nvPr>
        </p:nvSpPr>
        <p:spPr/>
        <p:txBody>
          <a:bodyPr/>
          <a:lstStyle/>
          <a:p>
            <a:fld id="{265660D2-58A4-FA4B-9BCA-D617AB0659A8}" type="slidenum">
              <a:rPr lang="en-DE" smtClean="0"/>
              <a:t>9</a:t>
            </a:fld>
            <a:endParaRPr lang="en-DE"/>
          </a:p>
        </p:txBody>
      </p:sp>
    </p:spTree>
    <p:extLst>
      <p:ext uri="{BB962C8B-B14F-4D97-AF65-F5344CB8AC3E}">
        <p14:creationId xmlns:p14="http://schemas.microsoft.com/office/powerpoint/2010/main" val="848144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A54D-484B-A86F-CD59-95CE2E4B7B4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C862BAD2-B255-F574-3047-CD00451D33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919A7900-2C34-CFD0-09B8-020459B34054}"/>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5C681D6C-64F0-6826-2A25-6D4C1DBED2B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D80131C-E6CD-7309-E117-A1DCBCBDA3E7}"/>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3936582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9238-5CCC-EF86-2F65-4DF293B81C57}"/>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9686E355-D86E-E429-ABE9-95FC4E896BC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7F3E9D5E-9D84-FC97-01E5-C188BB1920B2}"/>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74D5F56D-A3D3-1F50-E85A-E918BEA30BC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224B57F-B7F5-EC81-8396-7FB612471E3E}"/>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469165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E3AB-9EEF-B3A7-7D69-FA36C32056F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90EF324F-B39E-7040-5628-DDCB79FF4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9CDEE68-77CC-E7F1-F837-125F130CD81C}"/>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20E5B761-6BDC-3AC3-FD8C-00AB9E24ED7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97E88C4-5886-4890-CF23-B7A43C2B9E43}"/>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418690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FE09F-49CC-7893-18D6-8D1D31695AAB}"/>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D63E22F0-9D0D-313D-BA9F-D72D3DB99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129915CF-4A95-B790-7892-83DCC9DE7F1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DA530CFB-1939-F52A-B540-F2EE22F37756}"/>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6" name="Footer Placeholder 5">
            <a:extLst>
              <a:ext uri="{FF2B5EF4-FFF2-40B4-BE49-F238E27FC236}">
                <a16:creationId xmlns:a16="http://schemas.microsoft.com/office/drawing/2014/main" id="{20E81AD6-DBAA-E947-0F86-EB6C643F1701}"/>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C221AEF-6D8C-8B2C-8947-C4D3CF23407C}"/>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220771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7AC8-7AEC-0830-4884-4C4E3F2D7A05}"/>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2465E524-6390-899F-85C1-139E8DC97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D993168-8C30-9BE2-7A43-FB77C5B529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61FED498-570C-54D6-A6FF-F6DF105A25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EC714F-144B-C6BD-7E75-67328B9F06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A900D4B4-BF9E-127F-10CF-6EF22C36D585}"/>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8" name="Footer Placeholder 7">
            <a:extLst>
              <a:ext uri="{FF2B5EF4-FFF2-40B4-BE49-F238E27FC236}">
                <a16:creationId xmlns:a16="http://schemas.microsoft.com/office/drawing/2014/main" id="{7A891894-688D-6ED6-9E67-610B70F812F9}"/>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A5F61F4E-9754-E903-25CF-B298ABB7F6F2}"/>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2106008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17E2F-D2A9-21D4-656B-A3EF8812A318}"/>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3DE99302-D2B1-9F5C-4FEF-21E7D7C72932}"/>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4" name="Footer Placeholder 3">
            <a:extLst>
              <a:ext uri="{FF2B5EF4-FFF2-40B4-BE49-F238E27FC236}">
                <a16:creationId xmlns:a16="http://schemas.microsoft.com/office/drawing/2014/main" id="{F83EE640-FDCD-C8D9-023E-28802F7E736C}"/>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612AA315-FA77-1FD1-61FC-C8EC42331C8A}"/>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120734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EBC9E5-A6A7-59BD-4F90-7F0379816540}"/>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3" name="Footer Placeholder 2">
            <a:extLst>
              <a:ext uri="{FF2B5EF4-FFF2-40B4-BE49-F238E27FC236}">
                <a16:creationId xmlns:a16="http://schemas.microsoft.com/office/drawing/2014/main" id="{A4D437B6-4730-C839-BBC2-3422FED907FE}"/>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284013F5-ED22-1B36-D051-2E5A386AED76}"/>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2673228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7253-8AA4-30D6-990B-F0C1D30A864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F015E8AF-1AD6-5777-70A5-E48BB2997E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971BEAC0-3B92-541E-1B93-209BB2232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40FE70-28FC-D1A8-E185-BDBD48971E72}"/>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6" name="Footer Placeholder 5">
            <a:extLst>
              <a:ext uri="{FF2B5EF4-FFF2-40B4-BE49-F238E27FC236}">
                <a16:creationId xmlns:a16="http://schemas.microsoft.com/office/drawing/2014/main" id="{D24E3DAE-4F91-3315-9D2E-F902E1C2E9B2}"/>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D5EA7C1-46E7-1A59-6FE8-0A8E87B4AAED}"/>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24802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1512-6E53-B7DB-D7D8-A003547EF1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C6436D5A-DB52-D99B-9FCA-0E497555AA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9CA66172-3999-E2E5-F376-E3171E321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9169CF-EFB8-9096-888B-E3802BE7CB16}"/>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6" name="Footer Placeholder 5">
            <a:extLst>
              <a:ext uri="{FF2B5EF4-FFF2-40B4-BE49-F238E27FC236}">
                <a16:creationId xmlns:a16="http://schemas.microsoft.com/office/drawing/2014/main" id="{9AF2F403-426C-5BDA-8D2E-324B75B79DCD}"/>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D04D2F8B-656A-A4D5-F2B9-3B712A9A6A3D}"/>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46914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AE464-BE2D-E2DB-762A-2B35EA2EE7ED}"/>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05FD6458-C211-7B4F-CA4A-9BAAE78EC84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819A000F-B572-8183-4E21-C4622D43F63F}"/>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BFF22E95-FC63-8A93-D6F8-E8657E86C6F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2203B85-DF85-351E-E871-4B83B8EB53F6}"/>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2855947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B70A3-2583-AFAB-3C3D-13B6FFA38E7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B003955A-D52B-E10C-D512-87AA649F54B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EEDEDCFE-BE9E-BE4E-2F92-6483D35CD000}"/>
              </a:ext>
            </a:extLst>
          </p:cNvPr>
          <p:cNvSpPr>
            <a:spLocks noGrp="1"/>
          </p:cNvSpPr>
          <p:nvPr>
            <p:ph type="dt" sz="half" idx="10"/>
          </p:nvPr>
        </p:nvSpPr>
        <p:spPr/>
        <p:txBody>
          <a:body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C1AFAF4D-98B7-88F2-B408-BE331EACAA07}"/>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A27D4F4-8A0B-793C-EAB5-D73ED5361D80}"/>
              </a:ext>
            </a:extLst>
          </p:cNvPr>
          <p:cNvSpPr>
            <a:spLocks noGrp="1"/>
          </p:cNvSpPr>
          <p:nvPr>
            <p:ph type="sldNum" sz="quarter" idx="12"/>
          </p:nvPr>
        </p:nvSpPr>
        <p:spPr/>
        <p:txBody>
          <a:bodyPr/>
          <a:lstStyle/>
          <a:p>
            <a:fld id="{A9B43628-9887-044C-B7ED-65B5CAB0A09B}" type="slidenum">
              <a:rPr lang="en-DE" smtClean="0"/>
              <a:t>‹#›</a:t>
            </a:fld>
            <a:endParaRPr lang="en-DE"/>
          </a:p>
        </p:txBody>
      </p:sp>
    </p:spTree>
    <p:extLst>
      <p:ext uri="{BB962C8B-B14F-4D97-AF65-F5344CB8AC3E}">
        <p14:creationId xmlns:p14="http://schemas.microsoft.com/office/powerpoint/2010/main" val="3532431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0F2417-9CFE-455D-3B7A-D4F6159F5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026A64CD-6325-964B-8396-00DD365C32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6B3A6663-F027-61E8-1665-76AE2E2E06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4FD837-5856-D349-91DA-144B9ACEA6A1}" type="datetimeFigureOut">
              <a:rPr lang="en-DE" smtClean="0"/>
              <a:t>08.01.24</a:t>
            </a:fld>
            <a:endParaRPr lang="en-DE"/>
          </a:p>
        </p:txBody>
      </p:sp>
      <p:sp>
        <p:nvSpPr>
          <p:cNvPr id="5" name="Footer Placeholder 4">
            <a:extLst>
              <a:ext uri="{FF2B5EF4-FFF2-40B4-BE49-F238E27FC236}">
                <a16:creationId xmlns:a16="http://schemas.microsoft.com/office/drawing/2014/main" id="{5324D552-1A29-5788-43B1-18052FE87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AA548846-B7D0-CD66-140B-ABF0A6C50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B43628-9887-044C-B7ED-65B5CAB0A09B}" type="slidenum">
              <a:rPr lang="en-DE" smtClean="0"/>
              <a:t>‹#›</a:t>
            </a:fld>
            <a:endParaRPr lang="en-DE"/>
          </a:p>
        </p:txBody>
      </p:sp>
    </p:spTree>
    <p:extLst>
      <p:ext uri="{BB962C8B-B14F-4D97-AF65-F5344CB8AC3E}">
        <p14:creationId xmlns:p14="http://schemas.microsoft.com/office/powerpoint/2010/main" val="3404550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8039-6661-E6DF-587B-FFF2980CAF61}"/>
              </a:ext>
            </a:extLst>
          </p:cNvPr>
          <p:cNvSpPr>
            <a:spLocks noGrp="1"/>
          </p:cNvSpPr>
          <p:nvPr>
            <p:ph type="ctrTitle"/>
          </p:nvPr>
        </p:nvSpPr>
        <p:spPr>
          <a:xfrm>
            <a:off x="1524000" y="1993900"/>
            <a:ext cx="9144000" cy="2387600"/>
          </a:xfrm>
        </p:spPr>
        <p:txBody>
          <a:bodyPr>
            <a:normAutofit fontScale="90000"/>
          </a:bodyPr>
          <a:lstStyle/>
          <a:p>
            <a:r>
              <a:rPr lang="en-DE" dirty="0"/>
              <a:t>Economic Determinants of Right Wing Populism &amp; Climate Sceptisim</a:t>
            </a:r>
          </a:p>
        </p:txBody>
      </p:sp>
    </p:spTree>
    <p:extLst>
      <p:ext uri="{BB962C8B-B14F-4D97-AF65-F5344CB8AC3E}">
        <p14:creationId xmlns:p14="http://schemas.microsoft.com/office/powerpoint/2010/main" val="3911479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government&#10;&#10;Description automatically generated">
            <a:extLst>
              <a:ext uri="{FF2B5EF4-FFF2-40B4-BE49-F238E27FC236}">
                <a16:creationId xmlns:a16="http://schemas.microsoft.com/office/drawing/2014/main" id="{D2A2BDE8-221C-F2DD-B973-FDD97425718A}"/>
              </a:ext>
            </a:extLst>
          </p:cNvPr>
          <p:cNvPicPr>
            <a:picLocks noChangeAspect="1"/>
          </p:cNvPicPr>
          <p:nvPr/>
        </p:nvPicPr>
        <p:blipFill>
          <a:blip r:embed="rId2"/>
          <a:stretch>
            <a:fillRect/>
          </a:stretch>
        </p:blipFill>
        <p:spPr>
          <a:xfrm>
            <a:off x="5579390" y="0"/>
            <a:ext cx="6168326" cy="6865818"/>
          </a:xfrm>
          <a:prstGeom prst="rect">
            <a:avLst/>
          </a:prstGeom>
        </p:spPr>
      </p:pic>
      <p:pic>
        <p:nvPicPr>
          <p:cNvPr id="5" name="Content Placeholder 4" descr="A white background with black text&#10;&#10;Description automatically generated">
            <a:extLst>
              <a:ext uri="{FF2B5EF4-FFF2-40B4-BE49-F238E27FC236}">
                <a16:creationId xmlns:a16="http://schemas.microsoft.com/office/drawing/2014/main" id="{8C87306F-2CEA-F591-31DD-1D8A82A68C26}"/>
              </a:ext>
            </a:extLst>
          </p:cNvPr>
          <p:cNvPicPr>
            <a:picLocks noGrp="1" noChangeAspect="1"/>
          </p:cNvPicPr>
          <p:nvPr>
            <p:ph idx="1"/>
          </p:nvPr>
        </p:nvPicPr>
        <p:blipFill>
          <a:blip r:embed="rId3"/>
          <a:stretch>
            <a:fillRect/>
          </a:stretch>
        </p:blipFill>
        <p:spPr>
          <a:xfrm>
            <a:off x="152399" y="2067719"/>
            <a:ext cx="6850317" cy="1361281"/>
          </a:xfrm>
        </p:spPr>
      </p:pic>
    </p:spTree>
    <p:extLst>
      <p:ext uri="{BB962C8B-B14F-4D97-AF65-F5344CB8AC3E}">
        <p14:creationId xmlns:p14="http://schemas.microsoft.com/office/powerpoint/2010/main" val="2207527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graph with text&#10;&#10;Description automatically generated with medium confidence">
            <a:extLst>
              <a:ext uri="{FF2B5EF4-FFF2-40B4-BE49-F238E27FC236}">
                <a16:creationId xmlns:a16="http://schemas.microsoft.com/office/drawing/2014/main" id="{1993E55A-C7C0-E7E0-E079-FCA608DA3870}"/>
              </a:ext>
            </a:extLst>
          </p:cNvPr>
          <p:cNvPicPr>
            <a:picLocks noChangeAspect="1"/>
          </p:cNvPicPr>
          <p:nvPr/>
        </p:nvPicPr>
        <p:blipFill>
          <a:blip r:embed="rId2"/>
          <a:stretch>
            <a:fillRect/>
          </a:stretch>
        </p:blipFill>
        <p:spPr>
          <a:xfrm>
            <a:off x="2265329" y="252975"/>
            <a:ext cx="7378734" cy="6605026"/>
          </a:xfrm>
          <a:prstGeom prst="rect">
            <a:avLst/>
          </a:prstGeom>
        </p:spPr>
      </p:pic>
    </p:spTree>
    <p:extLst>
      <p:ext uri="{BB962C8B-B14F-4D97-AF65-F5344CB8AC3E}">
        <p14:creationId xmlns:p14="http://schemas.microsoft.com/office/powerpoint/2010/main" val="288902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diagram&#10;&#10;Description automatically generated">
            <a:extLst>
              <a:ext uri="{FF2B5EF4-FFF2-40B4-BE49-F238E27FC236}">
                <a16:creationId xmlns:a16="http://schemas.microsoft.com/office/drawing/2014/main" id="{B3DC34B6-64C1-BA30-1FAA-DDCDF384E577}"/>
              </a:ext>
            </a:extLst>
          </p:cNvPr>
          <p:cNvPicPr>
            <a:picLocks noGrp="1" noChangeAspect="1"/>
          </p:cNvPicPr>
          <p:nvPr>
            <p:ph idx="1"/>
          </p:nvPr>
        </p:nvPicPr>
        <p:blipFill>
          <a:blip r:embed="rId2"/>
          <a:stretch>
            <a:fillRect/>
          </a:stretch>
        </p:blipFill>
        <p:spPr>
          <a:xfrm>
            <a:off x="1360193" y="742950"/>
            <a:ext cx="9098812" cy="5434013"/>
          </a:xfrm>
          <a:prstGeom prst="rect">
            <a:avLst/>
          </a:prstGeom>
        </p:spPr>
      </p:pic>
    </p:spTree>
    <p:extLst>
      <p:ext uri="{BB962C8B-B14F-4D97-AF65-F5344CB8AC3E}">
        <p14:creationId xmlns:p14="http://schemas.microsoft.com/office/powerpoint/2010/main" val="1451079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FA245-127B-A095-4A92-30A2C34D5E7C}"/>
              </a:ext>
            </a:extLst>
          </p:cNvPr>
          <p:cNvSpPr>
            <a:spLocks noGrp="1"/>
          </p:cNvSpPr>
          <p:nvPr>
            <p:ph type="title"/>
          </p:nvPr>
        </p:nvSpPr>
        <p:spPr/>
        <p:txBody>
          <a:bodyPr/>
          <a:lstStyle/>
          <a:p>
            <a:r>
              <a:rPr lang="en-DE" dirty="0"/>
              <a:t>Literature on Right Wing Populism &amp; Climate Sceptisim</a:t>
            </a:r>
          </a:p>
        </p:txBody>
      </p:sp>
      <p:sp>
        <p:nvSpPr>
          <p:cNvPr id="5" name="TextBox 4">
            <a:extLst>
              <a:ext uri="{FF2B5EF4-FFF2-40B4-BE49-F238E27FC236}">
                <a16:creationId xmlns:a16="http://schemas.microsoft.com/office/drawing/2014/main" id="{C711D0F8-0E9A-068A-242D-837DC42A3AFE}"/>
              </a:ext>
            </a:extLst>
          </p:cNvPr>
          <p:cNvSpPr txBox="1"/>
          <p:nvPr/>
        </p:nvSpPr>
        <p:spPr>
          <a:xfrm>
            <a:off x="1207294" y="2244209"/>
            <a:ext cx="6100762" cy="369332"/>
          </a:xfrm>
          <a:prstGeom prst="rect">
            <a:avLst/>
          </a:prstGeom>
          <a:noFill/>
        </p:spPr>
        <p:txBody>
          <a:bodyPr wrap="square">
            <a:spAutoFit/>
          </a:bodyPr>
          <a:lstStyle/>
          <a:p>
            <a:pPr marL="0" marR="0">
              <a:spcBef>
                <a:spcPts val="0"/>
              </a:spcBef>
              <a:spcAft>
                <a:spcPts val="0"/>
              </a:spcAft>
            </a:pPr>
            <a:r>
              <a:rPr lang="en-GB" sz="1800" i="1" dirty="0">
                <a:solidFill>
                  <a:srgbClr val="508442"/>
                </a:solidFill>
                <a:effectLst/>
                <a:latin typeface="Helvetica" pitchFamily="2" charset="0"/>
              </a:rPr>
              <a:t>A structuralist approach</a:t>
            </a:r>
            <a:endParaRPr lang="en-GB" sz="1800" dirty="0">
              <a:solidFill>
                <a:srgbClr val="508442"/>
              </a:solidFill>
              <a:effectLst/>
              <a:latin typeface="Helvetica" pitchFamily="2" charset="0"/>
            </a:endParaRPr>
          </a:p>
        </p:txBody>
      </p:sp>
      <p:pic>
        <p:nvPicPr>
          <p:cNvPr id="6" name="Picture 5">
            <a:extLst>
              <a:ext uri="{FF2B5EF4-FFF2-40B4-BE49-F238E27FC236}">
                <a16:creationId xmlns:a16="http://schemas.microsoft.com/office/drawing/2014/main" id="{0F2E2C71-6D0F-BE70-2A2D-5450E2F2A7AE}"/>
              </a:ext>
            </a:extLst>
          </p:cNvPr>
          <p:cNvPicPr>
            <a:picLocks noChangeAspect="1"/>
          </p:cNvPicPr>
          <p:nvPr/>
        </p:nvPicPr>
        <p:blipFill>
          <a:blip r:embed="rId3"/>
          <a:stretch>
            <a:fillRect/>
          </a:stretch>
        </p:blipFill>
        <p:spPr>
          <a:xfrm>
            <a:off x="278605" y="2946474"/>
            <a:ext cx="4850786" cy="2514749"/>
          </a:xfrm>
          <a:prstGeom prst="rect">
            <a:avLst/>
          </a:prstGeom>
        </p:spPr>
      </p:pic>
      <p:pic>
        <p:nvPicPr>
          <p:cNvPr id="7" name="Picture 6">
            <a:extLst>
              <a:ext uri="{FF2B5EF4-FFF2-40B4-BE49-F238E27FC236}">
                <a16:creationId xmlns:a16="http://schemas.microsoft.com/office/drawing/2014/main" id="{47BFD5AA-0BD5-C54E-0568-9E892F230706}"/>
              </a:ext>
            </a:extLst>
          </p:cNvPr>
          <p:cNvPicPr>
            <a:picLocks noChangeAspect="1"/>
          </p:cNvPicPr>
          <p:nvPr/>
        </p:nvPicPr>
        <p:blipFill>
          <a:blip r:embed="rId4"/>
          <a:stretch>
            <a:fillRect/>
          </a:stretch>
        </p:blipFill>
        <p:spPr>
          <a:xfrm>
            <a:off x="6255544" y="2613541"/>
            <a:ext cx="4769346" cy="3879334"/>
          </a:xfrm>
          <a:prstGeom prst="rect">
            <a:avLst/>
          </a:prstGeom>
        </p:spPr>
      </p:pic>
      <p:sp>
        <p:nvSpPr>
          <p:cNvPr id="8" name="TextBox 7">
            <a:extLst>
              <a:ext uri="{FF2B5EF4-FFF2-40B4-BE49-F238E27FC236}">
                <a16:creationId xmlns:a16="http://schemas.microsoft.com/office/drawing/2014/main" id="{D711B86E-2748-6170-4B44-E529A95E9052}"/>
              </a:ext>
            </a:extLst>
          </p:cNvPr>
          <p:cNvSpPr txBox="1"/>
          <p:nvPr/>
        </p:nvSpPr>
        <p:spPr>
          <a:xfrm>
            <a:off x="7431881" y="2133915"/>
            <a:ext cx="6100762" cy="369332"/>
          </a:xfrm>
          <a:prstGeom prst="rect">
            <a:avLst/>
          </a:prstGeom>
          <a:noFill/>
        </p:spPr>
        <p:txBody>
          <a:bodyPr wrap="square">
            <a:spAutoFit/>
          </a:bodyPr>
          <a:lstStyle/>
          <a:p>
            <a:pPr marL="0" marR="0">
              <a:spcBef>
                <a:spcPts val="0"/>
              </a:spcBef>
              <a:spcAft>
                <a:spcPts val="0"/>
              </a:spcAft>
            </a:pPr>
            <a:r>
              <a:rPr lang="en-GB" i="1" dirty="0" err="1">
                <a:solidFill>
                  <a:srgbClr val="508442"/>
                </a:solidFill>
                <a:latin typeface="Helvetica" pitchFamily="2" charset="0"/>
              </a:rPr>
              <a:t>Ideologogical</a:t>
            </a:r>
            <a:r>
              <a:rPr lang="en-GB" i="1" dirty="0">
                <a:solidFill>
                  <a:srgbClr val="508442"/>
                </a:solidFill>
                <a:latin typeface="Helvetica" pitchFamily="2" charset="0"/>
              </a:rPr>
              <a:t> Approach </a:t>
            </a:r>
            <a:endParaRPr lang="en-GB" sz="1800" dirty="0">
              <a:solidFill>
                <a:srgbClr val="508442"/>
              </a:solidFill>
              <a:effectLst/>
              <a:latin typeface="Helvetica" pitchFamily="2" charset="0"/>
            </a:endParaRPr>
          </a:p>
        </p:txBody>
      </p:sp>
      <p:pic>
        <p:nvPicPr>
          <p:cNvPr id="10" name="Picture 9" descr="A black text on a white background&#10;&#10;Description automatically generated">
            <a:extLst>
              <a:ext uri="{FF2B5EF4-FFF2-40B4-BE49-F238E27FC236}">
                <a16:creationId xmlns:a16="http://schemas.microsoft.com/office/drawing/2014/main" id="{DBB99CB7-1C4A-FC14-0609-02FB0674D725}"/>
              </a:ext>
            </a:extLst>
          </p:cNvPr>
          <p:cNvPicPr>
            <a:picLocks noChangeAspect="1"/>
          </p:cNvPicPr>
          <p:nvPr/>
        </p:nvPicPr>
        <p:blipFill>
          <a:blip r:embed="rId5"/>
          <a:stretch>
            <a:fillRect/>
          </a:stretch>
        </p:blipFill>
        <p:spPr>
          <a:xfrm>
            <a:off x="330992" y="6140227"/>
            <a:ext cx="2706676" cy="705296"/>
          </a:xfrm>
          <a:prstGeom prst="rect">
            <a:avLst/>
          </a:prstGeom>
        </p:spPr>
      </p:pic>
      <p:sp>
        <p:nvSpPr>
          <p:cNvPr id="11" name="TextBox 10">
            <a:extLst>
              <a:ext uri="{FF2B5EF4-FFF2-40B4-BE49-F238E27FC236}">
                <a16:creationId xmlns:a16="http://schemas.microsoft.com/office/drawing/2014/main" id="{87E7AABB-F950-4F2A-D536-32F2E366F846}"/>
              </a:ext>
            </a:extLst>
          </p:cNvPr>
          <p:cNvSpPr txBox="1"/>
          <p:nvPr/>
        </p:nvSpPr>
        <p:spPr>
          <a:xfrm>
            <a:off x="4076688" y="2612992"/>
            <a:ext cx="3189359" cy="461665"/>
          </a:xfrm>
          <a:prstGeom prst="rect">
            <a:avLst/>
          </a:prstGeom>
          <a:noFill/>
        </p:spPr>
        <p:txBody>
          <a:bodyPr wrap="square" rtlCol="0">
            <a:spAutoFit/>
          </a:bodyPr>
          <a:lstStyle/>
          <a:p>
            <a:r>
              <a:rPr lang="en-DE" sz="1200" dirty="0"/>
              <a:t>Machine Learning – </a:t>
            </a:r>
            <a:br>
              <a:rPr lang="en-DE" sz="1200" dirty="0"/>
            </a:br>
            <a:r>
              <a:rPr lang="en-DE" sz="1200" dirty="0"/>
              <a:t>Random Forrest for Variable Selection </a:t>
            </a:r>
          </a:p>
        </p:txBody>
      </p:sp>
      <p:sp>
        <p:nvSpPr>
          <p:cNvPr id="12" name="TextBox 11">
            <a:extLst>
              <a:ext uri="{FF2B5EF4-FFF2-40B4-BE49-F238E27FC236}">
                <a16:creationId xmlns:a16="http://schemas.microsoft.com/office/drawing/2014/main" id="{BC2361D7-10A9-039E-492B-1072B6EADBB7}"/>
              </a:ext>
            </a:extLst>
          </p:cNvPr>
          <p:cNvSpPr txBox="1"/>
          <p:nvPr/>
        </p:nvSpPr>
        <p:spPr>
          <a:xfrm>
            <a:off x="9878024" y="3514915"/>
            <a:ext cx="1802738" cy="523220"/>
          </a:xfrm>
          <a:prstGeom prst="rect">
            <a:avLst/>
          </a:prstGeom>
          <a:noFill/>
        </p:spPr>
        <p:txBody>
          <a:bodyPr wrap="none" rtlCol="0">
            <a:spAutoFit/>
          </a:bodyPr>
          <a:lstStyle/>
          <a:p>
            <a:r>
              <a:rPr lang="en-DE" sz="1400" dirty="0"/>
              <a:t>Fitting Mediator from</a:t>
            </a:r>
            <a:br>
              <a:rPr lang="en-DE" sz="1400" dirty="0"/>
            </a:br>
            <a:r>
              <a:rPr lang="en-DE" sz="1400" dirty="0"/>
              <a:t>treatment assignment</a:t>
            </a:r>
          </a:p>
        </p:txBody>
      </p:sp>
      <p:cxnSp>
        <p:nvCxnSpPr>
          <p:cNvPr id="15" name="Straight Arrow Connector 14">
            <a:extLst>
              <a:ext uri="{FF2B5EF4-FFF2-40B4-BE49-F238E27FC236}">
                <a16:creationId xmlns:a16="http://schemas.microsoft.com/office/drawing/2014/main" id="{F46C813B-665A-D5C1-1B17-EF134F3527AC}"/>
              </a:ext>
            </a:extLst>
          </p:cNvPr>
          <p:cNvCxnSpPr/>
          <p:nvPr/>
        </p:nvCxnSpPr>
        <p:spPr>
          <a:xfrm flipH="1">
            <a:off x="2410691" y="3292545"/>
            <a:ext cx="2424545" cy="751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09F2C49-E731-8E9C-F0C2-B04A56BF05C1}"/>
              </a:ext>
            </a:extLst>
          </p:cNvPr>
          <p:cNvCxnSpPr/>
          <p:nvPr/>
        </p:nvCxnSpPr>
        <p:spPr>
          <a:xfrm flipH="1">
            <a:off x="3622963" y="3231699"/>
            <a:ext cx="1669473" cy="689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7D4356-9FC0-566C-E0BC-743DC077E791}"/>
              </a:ext>
            </a:extLst>
          </p:cNvPr>
          <p:cNvSpPr txBox="1"/>
          <p:nvPr/>
        </p:nvSpPr>
        <p:spPr>
          <a:xfrm>
            <a:off x="10090775" y="2161190"/>
            <a:ext cx="2047292" cy="307777"/>
          </a:xfrm>
          <a:prstGeom prst="rect">
            <a:avLst/>
          </a:prstGeom>
          <a:noFill/>
        </p:spPr>
        <p:txBody>
          <a:bodyPr wrap="none" rtlCol="0">
            <a:spAutoFit/>
          </a:bodyPr>
          <a:lstStyle/>
          <a:p>
            <a:r>
              <a:rPr lang="en-DE" sz="1400" b="1" dirty="0"/>
              <a:t>Causal Mediation Model </a:t>
            </a:r>
          </a:p>
        </p:txBody>
      </p:sp>
      <p:sp>
        <p:nvSpPr>
          <p:cNvPr id="3" name="TextBox 2">
            <a:extLst>
              <a:ext uri="{FF2B5EF4-FFF2-40B4-BE49-F238E27FC236}">
                <a16:creationId xmlns:a16="http://schemas.microsoft.com/office/drawing/2014/main" id="{68531D90-D81B-9876-B7F7-E14D0B59F47F}"/>
              </a:ext>
            </a:extLst>
          </p:cNvPr>
          <p:cNvSpPr txBox="1"/>
          <p:nvPr/>
        </p:nvSpPr>
        <p:spPr>
          <a:xfrm>
            <a:off x="3783223" y="2244209"/>
            <a:ext cx="2938818" cy="307777"/>
          </a:xfrm>
          <a:prstGeom prst="rect">
            <a:avLst/>
          </a:prstGeom>
          <a:noFill/>
        </p:spPr>
        <p:txBody>
          <a:bodyPr wrap="none" rtlCol="0">
            <a:spAutoFit/>
          </a:bodyPr>
          <a:lstStyle/>
          <a:p>
            <a:r>
              <a:rPr lang="en-GB" sz="1400" b="1" dirty="0"/>
              <a:t>Interaction</a:t>
            </a:r>
            <a:r>
              <a:rPr lang="en-DE" sz="1400" b="1" dirty="0"/>
              <a:t> model </a:t>
            </a:r>
            <a:r>
              <a:rPr lang="en-DE" sz="900" dirty="0"/>
              <a:t>(measuring contextual effect)</a:t>
            </a:r>
            <a:endParaRPr lang="en-DE" sz="1400" b="1" dirty="0"/>
          </a:p>
        </p:txBody>
      </p:sp>
      <p:sp>
        <p:nvSpPr>
          <p:cNvPr id="4" name="TextBox 3">
            <a:extLst>
              <a:ext uri="{FF2B5EF4-FFF2-40B4-BE49-F238E27FC236}">
                <a16:creationId xmlns:a16="http://schemas.microsoft.com/office/drawing/2014/main" id="{DDE3AAC6-4FEB-E38D-DC4C-141AA0ECA37B}"/>
              </a:ext>
            </a:extLst>
          </p:cNvPr>
          <p:cNvSpPr txBox="1"/>
          <p:nvPr/>
        </p:nvSpPr>
        <p:spPr>
          <a:xfrm>
            <a:off x="379445" y="2631534"/>
            <a:ext cx="237566" cy="369332"/>
          </a:xfrm>
          <a:prstGeom prst="rect">
            <a:avLst/>
          </a:prstGeom>
          <a:noFill/>
        </p:spPr>
        <p:txBody>
          <a:bodyPr wrap="none" rtlCol="0">
            <a:spAutoFit/>
          </a:bodyPr>
          <a:lstStyle/>
          <a:p>
            <a:r>
              <a:rPr lang="en-DE" dirty="0"/>
              <a:t> </a:t>
            </a:r>
          </a:p>
        </p:txBody>
      </p:sp>
      <p:sp>
        <p:nvSpPr>
          <p:cNvPr id="13" name="TextBox 12">
            <a:extLst>
              <a:ext uri="{FF2B5EF4-FFF2-40B4-BE49-F238E27FC236}">
                <a16:creationId xmlns:a16="http://schemas.microsoft.com/office/drawing/2014/main" id="{605B150D-6A80-9E53-EFAE-DC3E2E2ACF8C}"/>
              </a:ext>
            </a:extLst>
          </p:cNvPr>
          <p:cNvSpPr txBox="1"/>
          <p:nvPr/>
        </p:nvSpPr>
        <p:spPr>
          <a:xfrm>
            <a:off x="10090775" y="5276557"/>
            <a:ext cx="2134559" cy="1169551"/>
          </a:xfrm>
          <a:prstGeom prst="rect">
            <a:avLst/>
          </a:prstGeom>
          <a:noFill/>
        </p:spPr>
        <p:txBody>
          <a:bodyPr wrap="none" rtlCol="0">
            <a:spAutoFit/>
          </a:bodyPr>
          <a:lstStyle/>
          <a:p>
            <a:r>
              <a:rPr lang="de-DE" sz="1400" dirty="0" err="1"/>
              <a:t>Causal</a:t>
            </a:r>
            <a:r>
              <a:rPr lang="de-DE" sz="1400" dirty="0"/>
              <a:t> </a:t>
            </a:r>
            <a:r>
              <a:rPr lang="de-DE" sz="1400" dirty="0" err="1"/>
              <a:t>Trees</a:t>
            </a:r>
            <a:r>
              <a:rPr lang="de-DE" sz="1400" dirty="0"/>
              <a:t> </a:t>
            </a:r>
            <a:br>
              <a:rPr lang="de-DE" sz="1400" dirty="0"/>
            </a:br>
            <a:r>
              <a:rPr lang="de-DE" sz="1400" dirty="0"/>
              <a:t>not </a:t>
            </a:r>
            <a:r>
              <a:rPr lang="de-DE" sz="1400" dirty="0" err="1"/>
              <a:t>appropriate</a:t>
            </a:r>
            <a:r>
              <a:rPr lang="en-DE" sz="1400" dirty="0"/>
              <a:t> </a:t>
            </a:r>
            <a:br>
              <a:rPr lang="en-DE" sz="1400" dirty="0"/>
            </a:br>
            <a:r>
              <a:rPr lang="en-DE" sz="1400" dirty="0"/>
              <a:t>for mediation? </a:t>
            </a:r>
            <a:br>
              <a:rPr lang="en-DE" sz="1400" dirty="0"/>
            </a:br>
            <a:br>
              <a:rPr lang="en-DE" sz="1400" dirty="0"/>
            </a:br>
            <a:r>
              <a:rPr lang="en-DE" sz="1400" dirty="0"/>
              <a:t>Propensity Score Matching</a:t>
            </a:r>
            <a:endParaRPr lang="de-DE" sz="1400" dirty="0"/>
          </a:p>
        </p:txBody>
      </p:sp>
    </p:spTree>
    <p:extLst>
      <p:ext uri="{BB962C8B-B14F-4D97-AF65-F5344CB8AC3E}">
        <p14:creationId xmlns:p14="http://schemas.microsoft.com/office/powerpoint/2010/main" val="182324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617A-685A-55DE-5880-70C3DEC366F9}"/>
              </a:ext>
            </a:extLst>
          </p:cNvPr>
          <p:cNvSpPr>
            <a:spLocks noGrp="1"/>
          </p:cNvSpPr>
          <p:nvPr>
            <p:ph type="title"/>
          </p:nvPr>
        </p:nvSpPr>
        <p:spPr/>
        <p:txBody>
          <a:bodyPr/>
          <a:lstStyle/>
          <a:p>
            <a:r>
              <a:rPr lang="en-DE" dirty="0"/>
              <a:t>Variable Selection &amp; Data</a:t>
            </a:r>
          </a:p>
        </p:txBody>
      </p:sp>
      <p:sp>
        <p:nvSpPr>
          <p:cNvPr id="3" name="Content Placeholder 2">
            <a:extLst>
              <a:ext uri="{FF2B5EF4-FFF2-40B4-BE49-F238E27FC236}">
                <a16:creationId xmlns:a16="http://schemas.microsoft.com/office/drawing/2014/main" id="{026B07D3-6E91-4DDC-BB80-CE6E6DCE5C1D}"/>
              </a:ext>
            </a:extLst>
          </p:cNvPr>
          <p:cNvSpPr>
            <a:spLocks noGrp="1"/>
          </p:cNvSpPr>
          <p:nvPr>
            <p:ph idx="1"/>
          </p:nvPr>
        </p:nvSpPr>
        <p:spPr>
          <a:xfrm>
            <a:off x="347663" y="2214562"/>
            <a:ext cx="4433888" cy="2428875"/>
          </a:xfrm>
        </p:spPr>
        <p:txBody>
          <a:bodyPr>
            <a:normAutofit/>
          </a:bodyPr>
          <a:lstStyle/>
          <a:p>
            <a:pPr marL="0" indent="0">
              <a:buNone/>
            </a:pPr>
            <a:r>
              <a:rPr lang="en-DE" sz="1800" dirty="0"/>
              <a:t>Individual factors</a:t>
            </a:r>
          </a:p>
          <a:p>
            <a:pPr lvl="1"/>
            <a:r>
              <a:rPr lang="en-DE" sz="1400" dirty="0"/>
              <a:t>Type of Industry (Nace 2.0) (e.g. </a:t>
            </a:r>
            <a:r>
              <a:rPr lang="en-GB" sz="1400" b="0" i="0" dirty="0">
                <a:solidFill>
                  <a:srgbClr val="333333"/>
                </a:solidFill>
                <a:effectLst/>
                <a:latin typeface="ProximaNova"/>
              </a:rPr>
              <a:t>Mining of coal and lignite)</a:t>
            </a:r>
            <a:endParaRPr lang="en-DE" sz="1400" dirty="0"/>
          </a:p>
          <a:p>
            <a:pPr lvl="1"/>
            <a:r>
              <a:rPr lang="en-DE" sz="1400" dirty="0"/>
              <a:t>Recent Unemployment</a:t>
            </a:r>
          </a:p>
          <a:p>
            <a:pPr lvl="1"/>
            <a:r>
              <a:rPr lang="en-DE" sz="1400" dirty="0"/>
              <a:t>Income (relative to Country)</a:t>
            </a:r>
          </a:p>
          <a:p>
            <a:pPr lvl="1"/>
            <a:r>
              <a:rPr lang="en-GB" sz="1400" dirty="0"/>
              <a:t>M</a:t>
            </a:r>
            <a:r>
              <a:rPr lang="en-DE" sz="1400" dirty="0"/>
              <a:t>ember of Trade Union</a:t>
            </a:r>
          </a:p>
          <a:p>
            <a:pPr lvl="1"/>
            <a:r>
              <a:rPr lang="en-DE" sz="1400" dirty="0"/>
              <a:t>Sociodemographics (Education, Gender) </a:t>
            </a:r>
          </a:p>
        </p:txBody>
      </p:sp>
      <p:sp>
        <p:nvSpPr>
          <p:cNvPr id="4" name="Content Placeholder 2">
            <a:extLst>
              <a:ext uri="{FF2B5EF4-FFF2-40B4-BE49-F238E27FC236}">
                <a16:creationId xmlns:a16="http://schemas.microsoft.com/office/drawing/2014/main" id="{CA374CAA-E11B-2102-3335-70900FA4EC02}"/>
              </a:ext>
            </a:extLst>
          </p:cNvPr>
          <p:cNvSpPr txBox="1">
            <a:spLocks/>
          </p:cNvSpPr>
          <p:nvPr/>
        </p:nvSpPr>
        <p:spPr>
          <a:xfrm>
            <a:off x="576263" y="4370523"/>
            <a:ext cx="5344090" cy="205409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DE" dirty="0"/>
              <a:t>Regional/ National factors</a:t>
            </a:r>
          </a:p>
          <a:p>
            <a:pPr lvl="1"/>
            <a:r>
              <a:rPr lang="en-GB" b="0" i="0" dirty="0">
                <a:solidFill>
                  <a:srgbClr val="333333"/>
                </a:solidFill>
                <a:effectLst/>
                <a:latin typeface="ProximaNova"/>
              </a:rPr>
              <a:t>Social Mobility - ? </a:t>
            </a:r>
          </a:p>
          <a:p>
            <a:pPr lvl="1"/>
            <a:r>
              <a:rPr lang="en-GB" b="0" i="0" dirty="0">
                <a:solidFill>
                  <a:srgbClr val="333333"/>
                </a:solidFill>
                <a:effectLst/>
                <a:latin typeface="ProximaNova"/>
              </a:rPr>
              <a:t>Globalisation – trade shocks? </a:t>
            </a:r>
          </a:p>
          <a:p>
            <a:pPr lvl="1"/>
            <a:r>
              <a:rPr lang="en-GB" b="0" i="0" dirty="0">
                <a:solidFill>
                  <a:srgbClr val="333333"/>
                </a:solidFill>
                <a:effectLst/>
                <a:latin typeface="ProximaNova"/>
              </a:rPr>
              <a:t>Employment Regional</a:t>
            </a:r>
          </a:p>
          <a:p>
            <a:pPr lvl="1"/>
            <a:r>
              <a:rPr lang="en-GB" b="0" i="0" dirty="0">
                <a:solidFill>
                  <a:srgbClr val="333333"/>
                </a:solidFill>
                <a:effectLst/>
                <a:latin typeface="ProximaNova"/>
              </a:rPr>
              <a:t>Inequality </a:t>
            </a:r>
          </a:p>
          <a:p>
            <a:pPr lvl="2"/>
            <a:r>
              <a:rPr lang="en-GB" b="0" i="0" dirty="0">
                <a:solidFill>
                  <a:srgbClr val="333333"/>
                </a:solidFill>
                <a:effectLst/>
                <a:latin typeface="ProximaNova"/>
              </a:rPr>
              <a:t>National Gini</a:t>
            </a:r>
          </a:p>
          <a:p>
            <a:pPr lvl="2"/>
            <a:r>
              <a:rPr lang="en-GB" dirty="0">
                <a:solidFill>
                  <a:srgbClr val="333333"/>
                </a:solidFill>
                <a:latin typeface="ProximaNova"/>
              </a:rPr>
              <a:t>Cambridge Econometrics</a:t>
            </a:r>
            <a:r>
              <a:rPr lang="en-GB" b="0" i="0" dirty="0">
                <a:solidFill>
                  <a:srgbClr val="333333"/>
                </a:solidFill>
                <a:effectLst/>
                <a:latin typeface="ProximaNova"/>
              </a:rPr>
              <a:t> </a:t>
            </a:r>
          </a:p>
          <a:p>
            <a:pPr lvl="1"/>
            <a:r>
              <a:rPr lang="en-GB" b="0" i="0" dirty="0">
                <a:solidFill>
                  <a:srgbClr val="333333"/>
                </a:solidFill>
                <a:effectLst/>
                <a:latin typeface="ProximaNova"/>
              </a:rPr>
              <a:t>Migration – Eurostat – Net changes</a:t>
            </a:r>
            <a:endParaRPr lang="en-GB" dirty="0">
              <a:solidFill>
                <a:srgbClr val="333333"/>
              </a:solidFill>
              <a:latin typeface="ProximaNova"/>
            </a:endParaRPr>
          </a:p>
          <a:p>
            <a:pPr lvl="1"/>
            <a:r>
              <a:rPr lang="en-GB" dirty="0">
                <a:solidFill>
                  <a:srgbClr val="333333"/>
                </a:solidFill>
                <a:latin typeface="ProximaNova"/>
              </a:rPr>
              <a:t>Social Spending (% of GDP) - Eurostat</a:t>
            </a:r>
            <a:endParaRPr lang="en-DE" dirty="0"/>
          </a:p>
        </p:txBody>
      </p:sp>
      <p:sp>
        <p:nvSpPr>
          <p:cNvPr id="5" name="TextBox 4">
            <a:extLst>
              <a:ext uri="{FF2B5EF4-FFF2-40B4-BE49-F238E27FC236}">
                <a16:creationId xmlns:a16="http://schemas.microsoft.com/office/drawing/2014/main" id="{CF4DB85D-5CEA-6804-965D-1C03969DD741}"/>
              </a:ext>
            </a:extLst>
          </p:cNvPr>
          <p:cNvSpPr txBox="1"/>
          <p:nvPr/>
        </p:nvSpPr>
        <p:spPr>
          <a:xfrm>
            <a:off x="347663" y="1583293"/>
            <a:ext cx="2338654" cy="369332"/>
          </a:xfrm>
          <a:prstGeom prst="rect">
            <a:avLst/>
          </a:prstGeom>
          <a:noFill/>
        </p:spPr>
        <p:txBody>
          <a:bodyPr wrap="none" rtlCol="0">
            <a:spAutoFit/>
          </a:bodyPr>
          <a:lstStyle/>
          <a:p>
            <a:r>
              <a:rPr lang="en-DE" b="1" dirty="0"/>
              <a:t>Independent Variables</a:t>
            </a:r>
          </a:p>
        </p:txBody>
      </p:sp>
      <p:sp>
        <p:nvSpPr>
          <p:cNvPr id="6" name="TextBox 5">
            <a:extLst>
              <a:ext uri="{FF2B5EF4-FFF2-40B4-BE49-F238E27FC236}">
                <a16:creationId xmlns:a16="http://schemas.microsoft.com/office/drawing/2014/main" id="{99FCADF0-81D7-ECD2-3BB5-CB5611619150}"/>
              </a:ext>
            </a:extLst>
          </p:cNvPr>
          <p:cNvSpPr txBox="1"/>
          <p:nvPr/>
        </p:nvSpPr>
        <p:spPr>
          <a:xfrm>
            <a:off x="7986713" y="1634371"/>
            <a:ext cx="3071354" cy="369332"/>
          </a:xfrm>
          <a:prstGeom prst="rect">
            <a:avLst/>
          </a:prstGeom>
          <a:noFill/>
        </p:spPr>
        <p:txBody>
          <a:bodyPr wrap="none" rtlCol="0">
            <a:spAutoFit/>
          </a:bodyPr>
          <a:lstStyle/>
          <a:p>
            <a:r>
              <a:rPr lang="en-DE" b="1" dirty="0"/>
              <a:t>Mediation / Contextual effect </a:t>
            </a:r>
          </a:p>
        </p:txBody>
      </p:sp>
      <p:sp>
        <p:nvSpPr>
          <p:cNvPr id="7" name="TextBox 6">
            <a:extLst>
              <a:ext uri="{FF2B5EF4-FFF2-40B4-BE49-F238E27FC236}">
                <a16:creationId xmlns:a16="http://schemas.microsoft.com/office/drawing/2014/main" id="{FC5CCE8E-6FA7-8D71-FA6B-1D4E5EBDDE39}"/>
              </a:ext>
            </a:extLst>
          </p:cNvPr>
          <p:cNvSpPr txBox="1"/>
          <p:nvPr/>
        </p:nvSpPr>
        <p:spPr>
          <a:xfrm>
            <a:off x="7986713" y="2036604"/>
            <a:ext cx="2707344" cy="1477328"/>
          </a:xfrm>
          <a:prstGeom prst="rect">
            <a:avLst/>
          </a:prstGeom>
          <a:noFill/>
        </p:spPr>
        <p:txBody>
          <a:bodyPr wrap="none" rtlCol="0">
            <a:spAutoFit/>
          </a:bodyPr>
          <a:lstStyle/>
          <a:p>
            <a:pPr marL="285750" indent="-285750">
              <a:buFont typeface="Arial" panose="020B0604020202020204" pitchFamily="34" charset="0"/>
              <a:buChar char="•"/>
            </a:pPr>
            <a:r>
              <a:rPr lang="en-GB" b="0" i="0" dirty="0">
                <a:solidFill>
                  <a:srgbClr val="333333"/>
                </a:solidFill>
                <a:effectLst/>
                <a:latin typeface="ProximaNova"/>
              </a:rPr>
              <a:t>Which Party feel closest</a:t>
            </a:r>
          </a:p>
          <a:p>
            <a:pPr marL="742950" lvl="1" indent="-285750">
              <a:buFont typeface="Arial" panose="020B0604020202020204" pitchFamily="34" charset="0"/>
              <a:buChar char="•"/>
            </a:pPr>
            <a:r>
              <a:rPr lang="en-GB" dirty="0">
                <a:solidFill>
                  <a:srgbClr val="333333"/>
                </a:solidFill>
                <a:latin typeface="ProximaNova"/>
              </a:rPr>
              <a:t>RWP (y/n)</a:t>
            </a:r>
          </a:p>
          <a:p>
            <a:pPr marL="285750" indent="-285750">
              <a:buFont typeface="Arial" panose="020B0604020202020204" pitchFamily="34" charset="0"/>
              <a:buChar char="•"/>
            </a:pPr>
            <a:endParaRPr lang="en-GB" b="0" i="0" dirty="0">
              <a:solidFill>
                <a:srgbClr val="333333"/>
              </a:solidFill>
              <a:effectLst/>
              <a:latin typeface="ProximaNova"/>
            </a:endParaRPr>
          </a:p>
          <a:p>
            <a:pPr marL="285750" indent="-285750">
              <a:buFont typeface="Arial" panose="020B0604020202020204" pitchFamily="34" charset="0"/>
              <a:buChar char="•"/>
            </a:pPr>
            <a:endParaRPr lang="en-DE" dirty="0"/>
          </a:p>
          <a:p>
            <a:pPr marL="285750" indent="-285750">
              <a:buFont typeface="Arial" panose="020B0604020202020204" pitchFamily="34" charset="0"/>
              <a:buChar char="•"/>
            </a:pPr>
            <a:endParaRPr lang="en-DE" dirty="0"/>
          </a:p>
        </p:txBody>
      </p:sp>
      <p:sp>
        <p:nvSpPr>
          <p:cNvPr id="8" name="TextBox 7">
            <a:extLst>
              <a:ext uri="{FF2B5EF4-FFF2-40B4-BE49-F238E27FC236}">
                <a16:creationId xmlns:a16="http://schemas.microsoft.com/office/drawing/2014/main" id="{7E3522DC-EBB3-F856-85F3-86DD48009F46}"/>
              </a:ext>
            </a:extLst>
          </p:cNvPr>
          <p:cNvSpPr txBox="1"/>
          <p:nvPr/>
        </p:nvSpPr>
        <p:spPr>
          <a:xfrm>
            <a:off x="7410547" y="5534024"/>
            <a:ext cx="4152291" cy="1200329"/>
          </a:xfrm>
          <a:prstGeom prst="rect">
            <a:avLst/>
          </a:prstGeom>
          <a:noFill/>
        </p:spPr>
        <p:txBody>
          <a:bodyPr wrap="none" rtlCol="0">
            <a:spAutoFit/>
          </a:bodyPr>
          <a:lstStyle/>
          <a:p>
            <a:r>
              <a:rPr lang="en-DE" b="1" dirty="0"/>
              <a:t>Data</a:t>
            </a:r>
            <a:br>
              <a:rPr lang="en-DE" b="1" dirty="0"/>
            </a:br>
            <a:br>
              <a:rPr lang="en-DE" b="1" dirty="0"/>
            </a:br>
            <a:r>
              <a:rPr lang="en-DE" b="1" dirty="0"/>
              <a:t>European Social Survey – November 2023</a:t>
            </a:r>
          </a:p>
          <a:p>
            <a:r>
              <a:rPr lang="en-DE" b="1" dirty="0"/>
              <a:t>&amp; Other Economic Data</a:t>
            </a:r>
          </a:p>
        </p:txBody>
      </p:sp>
      <p:sp>
        <p:nvSpPr>
          <p:cNvPr id="9" name="TextBox 8">
            <a:extLst>
              <a:ext uri="{FF2B5EF4-FFF2-40B4-BE49-F238E27FC236}">
                <a16:creationId xmlns:a16="http://schemas.microsoft.com/office/drawing/2014/main" id="{8D483C8C-EFF9-48A1-04F3-2793FD7E5278}"/>
              </a:ext>
            </a:extLst>
          </p:cNvPr>
          <p:cNvSpPr txBox="1"/>
          <p:nvPr/>
        </p:nvSpPr>
        <p:spPr>
          <a:xfrm>
            <a:off x="7747227" y="3744763"/>
            <a:ext cx="4172489" cy="1815882"/>
          </a:xfrm>
          <a:prstGeom prst="rect">
            <a:avLst/>
          </a:prstGeom>
          <a:noFill/>
        </p:spPr>
        <p:txBody>
          <a:bodyPr wrap="none" rtlCol="0">
            <a:spAutoFit/>
          </a:bodyPr>
          <a:lstStyle/>
          <a:p>
            <a:r>
              <a:rPr lang="en-DE" b="1" dirty="0"/>
              <a:t>Dependet Variable</a:t>
            </a:r>
            <a:br>
              <a:rPr lang="en-DE" b="1" dirty="0"/>
            </a:br>
            <a:endParaRPr lang="en-DE" sz="1400" b="1" dirty="0"/>
          </a:p>
          <a:p>
            <a:pPr marL="285750" indent="-285750">
              <a:buFont typeface="Arial" panose="020B0604020202020204" pitchFamily="34" charset="0"/>
              <a:buChar char="•"/>
            </a:pPr>
            <a:r>
              <a:rPr lang="en-DE" sz="1600" dirty="0"/>
              <a:t>How worried about Climate change?</a:t>
            </a:r>
            <a:br>
              <a:rPr lang="en-DE" sz="1600" dirty="0"/>
            </a:br>
            <a:endParaRPr lang="en-DE" sz="1600" dirty="0"/>
          </a:p>
          <a:p>
            <a:pPr marL="285750" indent="-285750">
              <a:buFont typeface="Arial" panose="020B0604020202020204" pitchFamily="34" charset="0"/>
              <a:buChar char="•"/>
            </a:pPr>
            <a:r>
              <a:rPr lang="en-GB" sz="1600" b="0" i="0" dirty="0">
                <a:solidFill>
                  <a:srgbClr val="141414"/>
                </a:solidFill>
                <a:effectLst/>
              </a:rPr>
              <a:t>Climate change caused by natural processes,</a:t>
            </a:r>
            <a:br>
              <a:rPr lang="en-GB" sz="1600" b="0" i="0" dirty="0">
                <a:solidFill>
                  <a:srgbClr val="141414"/>
                </a:solidFill>
                <a:effectLst/>
              </a:rPr>
            </a:br>
            <a:r>
              <a:rPr lang="en-GB" sz="1600" b="0" i="0" dirty="0">
                <a:solidFill>
                  <a:srgbClr val="141414"/>
                </a:solidFill>
                <a:effectLst/>
              </a:rPr>
              <a:t>human activity, or both</a:t>
            </a:r>
            <a:br>
              <a:rPr lang="en-DE" sz="1600" b="1" dirty="0"/>
            </a:br>
            <a:endParaRPr lang="en-DE" sz="1600" b="1" dirty="0"/>
          </a:p>
        </p:txBody>
      </p:sp>
    </p:spTree>
    <p:extLst>
      <p:ext uri="{BB962C8B-B14F-4D97-AF65-F5344CB8AC3E}">
        <p14:creationId xmlns:p14="http://schemas.microsoft.com/office/powerpoint/2010/main" val="3650492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0506-899C-8678-C9BB-2E7073DE6637}"/>
              </a:ext>
            </a:extLst>
          </p:cNvPr>
          <p:cNvSpPr>
            <a:spLocks noGrp="1"/>
          </p:cNvSpPr>
          <p:nvPr>
            <p:ph type="title"/>
          </p:nvPr>
        </p:nvSpPr>
        <p:spPr>
          <a:xfrm>
            <a:off x="5700486" y="282231"/>
            <a:ext cx="10515600" cy="1325563"/>
          </a:xfrm>
        </p:spPr>
        <p:txBody>
          <a:bodyPr/>
          <a:lstStyle/>
          <a:p>
            <a:r>
              <a:rPr lang="en-DE" b="1" dirty="0"/>
              <a:t>DAG Causal Mediation </a:t>
            </a:r>
            <a:br>
              <a:rPr lang="en-DE" b="1" dirty="0"/>
            </a:br>
            <a:endParaRPr lang="en-DE" b="1" dirty="0"/>
          </a:p>
        </p:txBody>
      </p:sp>
      <p:sp>
        <p:nvSpPr>
          <p:cNvPr id="5" name="TextBox 4">
            <a:extLst>
              <a:ext uri="{FF2B5EF4-FFF2-40B4-BE49-F238E27FC236}">
                <a16:creationId xmlns:a16="http://schemas.microsoft.com/office/drawing/2014/main" id="{8920BFEB-ECD2-ED7F-1634-468751D721C8}"/>
              </a:ext>
            </a:extLst>
          </p:cNvPr>
          <p:cNvSpPr txBox="1"/>
          <p:nvPr/>
        </p:nvSpPr>
        <p:spPr>
          <a:xfrm>
            <a:off x="838200" y="2565790"/>
            <a:ext cx="1451429" cy="646331"/>
          </a:xfrm>
          <a:prstGeom prst="rect">
            <a:avLst/>
          </a:prstGeom>
          <a:noFill/>
        </p:spPr>
        <p:txBody>
          <a:bodyPr wrap="square">
            <a:spAutoFit/>
          </a:bodyPr>
          <a:lstStyle/>
          <a:p>
            <a:pPr marL="0" indent="0">
              <a:buNone/>
            </a:pPr>
            <a:r>
              <a:rPr lang="en-DE" dirty="0"/>
              <a:t>Parental Education</a:t>
            </a:r>
          </a:p>
        </p:txBody>
      </p:sp>
      <p:sp>
        <p:nvSpPr>
          <p:cNvPr id="6" name="TextBox 5">
            <a:extLst>
              <a:ext uri="{FF2B5EF4-FFF2-40B4-BE49-F238E27FC236}">
                <a16:creationId xmlns:a16="http://schemas.microsoft.com/office/drawing/2014/main" id="{2F6E035D-7105-461B-C1E7-45D94D7559A4}"/>
              </a:ext>
            </a:extLst>
          </p:cNvPr>
          <p:cNvSpPr txBox="1"/>
          <p:nvPr/>
        </p:nvSpPr>
        <p:spPr>
          <a:xfrm>
            <a:off x="8149771" y="2565788"/>
            <a:ext cx="1451429" cy="646331"/>
          </a:xfrm>
          <a:prstGeom prst="rect">
            <a:avLst/>
          </a:prstGeom>
          <a:noFill/>
        </p:spPr>
        <p:txBody>
          <a:bodyPr wrap="square">
            <a:spAutoFit/>
          </a:bodyPr>
          <a:lstStyle/>
          <a:p>
            <a:pPr marL="0" indent="0">
              <a:buNone/>
            </a:pPr>
            <a:r>
              <a:rPr lang="en-DE" dirty="0"/>
              <a:t>Child </a:t>
            </a:r>
            <a:br>
              <a:rPr lang="en-DE" dirty="0"/>
            </a:br>
            <a:r>
              <a:rPr lang="en-DE" dirty="0"/>
              <a:t>Voting</a:t>
            </a:r>
          </a:p>
        </p:txBody>
      </p:sp>
      <p:sp>
        <p:nvSpPr>
          <p:cNvPr id="7" name="TextBox 6">
            <a:extLst>
              <a:ext uri="{FF2B5EF4-FFF2-40B4-BE49-F238E27FC236}">
                <a16:creationId xmlns:a16="http://schemas.microsoft.com/office/drawing/2014/main" id="{2B7531C8-A2E8-E3C2-359F-BB6EE3EDAF3F}"/>
              </a:ext>
            </a:extLst>
          </p:cNvPr>
          <p:cNvSpPr txBox="1"/>
          <p:nvPr/>
        </p:nvSpPr>
        <p:spPr>
          <a:xfrm>
            <a:off x="4412343" y="2565789"/>
            <a:ext cx="1451429" cy="646331"/>
          </a:xfrm>
          <a:prstGeom prst="rect">
            <a:avLst/>
          </a:prstGeom>
          <a:noFill/>
        </p:spPr>
        <p:txBody>
          <a:bodyPr wrap="square">
            <a:spAutoFit/>
          </a:bodyPr>
          <a:lstStyle/>
          <a:p>
            <a:pPr marL="0" indent="0">
              <a:buNone/>
            </a:pPr>
            <a:r>
              <a:rPr lang="en-DE" dirty="0"/>
              <a:t>Parental Voting</a:t>
            </a:r>
          </a:p>
        </p:txBody>
      </p:sp>
      <p:cxnSp>
        <p:nvCxnSpPr>
          <p:cNvPr id="11" name="Straight Arrow Connector 10">
            <a:extLst>
              <a:ext uri="{FF2B5EF4-FFF2-40B4-BE49-F238E27FC236}">
                <a16:creationId xmlns:a16="http://schemas.microsoft.com/office/drawing/2014/main" id="{290F657F-4B0F-1552-5A75-77B55E7FAD30}"/>
              </a:ext>
            </a:extLst>
          </p:cNvPr>
          <p:cNvCxnSpPr>
            <a:stCxn id="5" idx="3"/>
          </p:cNvCxnSpPr>
          <p:nvPr/>
        </p:nvCxnSpPr>
        <p:spPr>
          <a:xfrm flipV="1">
            <a:off x="2289629" y="2888953"/>
            <a:ext cx="1788885"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F5569D3-90F1-E69C-B9A5-4A57361074DF}"/>
              </a:ext>
            </a:extLst>
          </p:cNvPr>
          <p:cNvCxnSpPr/>
          <p:nvPr/>
        </p:nvCxnSpPr>
        <p:spPr>
          <a:xfrm flipV="1">
            <a:off x="5863772" y="2888950"/>
            <a:ext cx="1788885"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C0F288A-A562-C409-E1C3-513A8AFBAE80}"/>
              </a:ext>
            </a:extLst>
          </p:cNvPr>
          <p:cNvSpPr txBox="1"/>
          <p:nvPr/>
        </p:nvSpPr>
        <p:spPr>
          <a:xfrm>
            <a:off x="6065845" y="4186854"/>
            <a:ext cx="2768643" cy="369332"/>
          </a:xfrm>
          <a:prstGeom prst="rect">
            <a:avLst/>
          </a:prstGeom>
          <a:noFill/>
        </p:spPr>
        <p:txBody>
          <a:bodyPr wrap="none" rtlCol="0">
            <a:spAutoFit/>
          </a:bodyPr>
          <a:lstStyle/>
          <a:p>
            <a:r>
              <a:rPr lang="en-DE" dirty="0"/>
              <a:t>Unobservered Confounders</a:t>
            </a:r>
          </a:p>
        </p:txBody>
      </p:sp>
      <p:cxnSp>
        <p:nvCxnSpPr>
          <p:cNvPr id="15" name="Straight Arrow Connector 14">
            <a:extLst>
              <a:ext uri="{FF2B5EF4-FFF2-40B4-BE49-F238E27FC236}">
                <a16:creationId xmlns:a16="http://schemas.microsoft.com/office/drawing/2014/main" id="{2F266174-A89A-05BA-2FB9-57D2977F6B62}"/>
              </a:ext>
            </a:extLst>
          </p:cNvPr>
          <p:cNvCxnSpPr/>
          <p:nvPr/>
        </p:nvCxnSpPr>
        <p:spPr>
          <a:xfrm flipH="1" flipV="1">
            <a:off x="5036457" y="3429000"/>
            <a:ext cx="827315" cy="942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F86F035-A00C-88F1-E732-5ABDCA1E806A}"/>
              </a:ext>
            </a:extLst>
          </p:cNvPr>
          <p:cNvCxnSpPr>
            <a:cxnSpLocks/>
          </p:cNvCxnSpPr>
          <p:nvPr/>
        </p:nvCxnSpPr>
        <p:spPr>
          <a:xfrm flipV="1">
            <a:off x="7802335" y="3315731"/>
            <a:ext cx="694872" cy="90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07D8209-E7C3-36A9-D379-299D9FC01B0E}"/>
              </a:ext>
            </a:extLst>
          </p:cNvPr>
          <p:cNvSpPr txBox="1"/>
          <p:nvPr/>
        </p:nvSpPr>
        <p:spPr>
          <a:xfrm>
            <a:off x="6065845" y="4628984"/>
            <a:ext cx="6235681" cy="1200329"/>
          </a:xfrm>
          <a:prstGeom prst="rect">
            <a:avLst/>
          </a:prstGeom>
          <a:noFill/>
        </p:spPr>
        <p:txBody>
          <a:bodyPr wrap="none" rtlCol="0">
            <a:spAutoFit/>
          </a:bodyPr>
          <a:lstStyle/>
          <a:p>
            <a:r>
              <a:rPr lang="en-DE" dirty="0"/>
              <a:t>- shared social millieu</a:t>
            </a:r>
          </a:p>
          <a:p>
            <a:r>
              <a:rPr lang="en-DE" dirty="0"/>
              <a:t>- local political context</a:t>
            </a:r>
          </a:p>
          <a:p>
            <a:r>
              <a:rPr lang="en-DE" dirty="0"/>
              <a:t>- exposure to political campaigns</a:t>
            </a:r>
          </a:p>
          <a:p>
            <a:r>
              <a:rPr lang="en-DE" dirty="0"/>
              <a:t>- Reverse Causation ( Young excited adults incite parents to vote)</a:t>
            </a:r>
          </a:p>
        </p:txBody>
      </p:sp>
      <p:cxnSp>
        <p:nvCxnSpPr>
          <p:cNvPr id="21" name="Straight Arrow Connector 20">
            <a:extLst>
              <a:ext uri="{FF2B5EF4-FFF2-40B4-BE49-F238E27FC236}">
                <a16:creationId xmlns:a16="http://schemas.microsoft.com/office/drawing/2014/main" id="{780D7293-A198-79BA-ADD1-2DBE04DF9CC1}"/>
              </a:ext>
            </a:extLst>
          </p:cNvPr>
          <p:cNvCxnSpPr/>
          <p:nvPr/>
        </p:nvCxnSpPr>
        <p:spPr>
          <a:xfrm flipH="1">
            <a:off x="1563914" y="1356153"/>
            <a:ext cx="725715" cy="1009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033318-AE69-A111-FF8A-A41594BCDF9C}"/>
              </a:ext>
            </a:extLst>
          </p:cNvPr>
          <p:cNvSpPr txBox="1"/>
          <p:nvPr/>
        </p:nvSpPr>
        <p:spPr>
          <a:xfrm>
            <a:off x="1701793" y="910595"/>
            <a:ext cx="2710550" cy="369332"/>
          </a:xfrm>
          <a:prstGeom prst="rect">
            <a:avLst/>
          </a:prstGeom>
          <a:noFill/>
        </p:spPr>
        <p:txBody>
          <a:bodyPr wrap="none" rtlCol="0">
            <a:spAutoFit/>
          </a:bodyPr>
          <a:lstStyle/>
          <a:p>
            <a:r>
              <a:rPr lang="en-GB" dirty="0"/>
              <a:t>U</a:t>
            </a:r>
            <a:r>
              <a:rPr lang="en-DE" dirty="0"/>
              <a:t>nobsevered  confounders</a:t>
            </a:r>
          </a:p>
        </p:txBody>
      </p:sp>
      <p:cxnSp>
        <p:nvCxnSpPr>
          <p:cNvPr id="24" name="Straight Arrow Connector 23">
            <a:extLst>
              <a:ext uri="{FF2B5EF4-FFF2-40B4-BE49-F238E27FC236}">
                <a16:creationId xmlns:a16="http://schemas.microsoft.com/office/drawing/2014/main" id="{777724E1-7251-EABF-2BB2-35769DA7BD14}"/>
              </a:ext>
            </a:extLst>
          </p:cNvPr>
          <p:cNvCxnSpPr/>
          <p:nvPr/>
        </p:nvCxnSpPr>
        <p:spPr>
          <a:xfrm>
            <a:off x="2289629" y="1356153"/>
            <a:ext cx="2122714" cy="1209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A5F2BD3-F1C4-43BE-A61A-4A50068BD456}"/>
              </a:ext>
            </a:extLst>
          </p:cNvPr>
          <p:cNvCxnSpPr>
            <a:cxnSpLocks/>
          </p:cNvCxnSpPr>
          <p:nvPr/>
        </p:nvCxnSpPr>
        <p:spPr>
          <a:xfrm>
            <a:off x="2289629" y="1380574"/>
            <a:ext cx="5696857" cy="1261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4" name="Picture 33" descr="A paper with text and numbers&#10;&#10;Description automatically generated">
            <a:extLst>
              <a:ext uri="{FF2B5EF4-FFF2-40B4-BE49-F238E27FC236}">
                <a16:creationId xmlns:a16="http://schemas.microsoft.com/office/drawing/2014/main" id="{68A6825C-1E77-1DEB-10AF-C2EDED2A776A}"/>
              </a:ext>
            </a:extLst>
          </p:cNvPr>
          <p:cNvPicPr>
            <a:picLocks noChangeAspect="1"/>
          </p:cNvPicPr>
          <p:nvPr/>
        </p:nvPicPr>
        <p:blipFill>
          <a:blip r:embed="rId3"/>
          <a:stretch>
            <a:fillRect/>
          </a:stretch>
        </p:blipFill>
        <p:spPr>
          <a:xfrm>
            <a:off x="435617" y="3645880"/>
            <a:ext cx="3324210" cy="2858990"/>
          </a:xfrm>
          <a:prstGeom prst="rect">
            <a:avLst/>
          </a:prstGeom>
        </p:spPr>
      </p:pic>
      <p:pic>
        <p:nvPicPr>
          <p:cNvPr id="35" name="Picture 34" descr="A close up of text&#10;&#10;Description automatically generated">
            <a:extLst>
              <a:ext uri="{FF2B5EF4-FFF2-40B4-BE49-F238E27FC236}">
                <a16:creationId xmlns:a16="http://schemas.microsoft.com/office/drawing/2014/main" id="{E5F0E4BA-ED1F-40F6-90AC-09027539370C}"/>
              </a:ext>
            </a:extLst>
          </p:cNvPr>
          <p:cNvPicPr>
            <a:picLocks noChangeAspect="1"/>
          </p:cNvPicPr>
          <p:nvPr/>
        </p:nvPicPr>
        <p:blipFill>
          <a:blip r:embed="rId4"/>
          <a:stretch>
            <a:fillRect/>
          </a:stretch>
        </p:blipFill>
        <p:spPr>
          <a:xfrm>
            <a:off x="7986487" y="1046430"/>
            <a:ext cx="4114800" cy="574389"/>
          </a:xfrm>
          <a:prstGeom prst="rect">
            <a:avLst/>
          </a:prstGeom>
        </p:spPr>
      </p:pic>
    </p:spTree>
    <p:extLst>
      <p:ext uri="{BB962C8B-B14F-4D97-AF65-F5344CB8AC3E}">
        <p14:creationId xmlns:p14="http://schemas.microsoft.com/office/powerpoint/2010/main" val="364927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20BFEB-ECD2-ED7F-1634-468751D721C8}"/>
              </a:ext>
            </a:extLst>
          </p:cNvPr>
          <p:cNvSpPr txBox="1"/>
          <p:nvPr/>
        </p:nvSpPr>
        <p:spPr>
          <a:xfrm>
            <a:off x="138374" y="2620851"/>
            <a:ext cx="3015018" cy="646331"/>
          </a:xfrm>
          <a:prstGeom prst="rect">
            <a:avLst/>
          </a:prstGeom>
          <a:noFill/>
        </p:spPr>
        <p:txBody>
          <a:bodyPr wrap="square">
            <a:spAutoFit/>
          </a:bodyPr>
          <a:lstStyle/>
          <a:p>
            <a:pPr marL="0" indent="0">
              <a:buNone/>
            </a:pPr>
            <a:r>
              <a:rPr lang="en-DE" dirty="0"/>
              <a:t>Economic</a:t>
            </a:r>
            <a:br>
              <a:rPr lang="en-DE" dirty="0"/>
            </a:br>
            <a:r>
              <a:rPr lang="en-DE" dirty="0"/>
              <a:t>effects (Regional &amp; Individual)</a:t>
            </a:r>
          </a:p>
        </p:txBody>
      </p:sp>
      <p:sp>
        <p:nvSpPr>
          <p:cNvPr id="6" name="TextBox 5">
            <a:extLst>
              <a:ext uri="{FF2B5EF4-FFF2-40B4-BE49-F238E27FC236}">
                <a16:creationId xmlns:a16="http://schemas.microsoft.com/office/drawing/2014/main" id="{2F6E035D-7105-461B-C1E7-45D94D7559A4}"/>
              </a:ext>
            </a:extLst>
          </p:cNvPr>
          <p:cNvSpPr txBox="1"/>
          <p:nvPr/>
        </p:nvSpPr>
        <p:spPr>
          <a:xfrm>
            <a:off x="8149771" y="2565788"/>
            <a:ext cx="1451429" cy="646331"/>
          </a:xfrm>
          <a:prstGeom prst="rect">
            <a:avLst/>
          </a:prstGeom>
          <a:noFill/>
        </p:spPr>
        <p:txBody>
          <a:bodyPr wrap="square">
            <a:spAutoFit/>
          </a:bodyPr>
          <a:lstStyle/>
          <a:p>
            <a:pPr marL="0" indent="0">
              <a:buNone/>
            </a:pPr>
            <a:r>
              <a:rPr lang="en-DE" dirty="0"/>
              <a:t>Climate Sceptisism</a:t>
            </a:r>
          </a:p>
        </p:txBody>
      </p:sp>
      <p:sp>
        <p:nvSpPr>
          <p:cNvPr id="7" name="TextBox 6">
            <a:extLst>
              <a:ext uri="{FF2B5EF4-FFF2-40B4-BE49-F238E27FC236}">
                <a16:creationId xmlns:a16="http://schemas.microsoft.com/office/drawing/2014/main" id="{2B7531C8-A2E8-E3C2-359F-BB6EE3EDAF3F}"/>
              </a:ext>
            </a:extLst>
          </p:cNvPr>
          <p:cNvSpPr txBox="1"/>
          <p:nvPr/>
        </p:nvSpPr>
        <p:spPr>
          <a:xfrm>
            <a:off x="4412343" y="2565789"/>
            <a:ext cx="1451429" cy="923330"/>
          </a:xfrm>
          <a:prstGeom prst="rect">
            <a:avLst/>
          </a:prstGeom>
          <a:noFill/>
        </p:spPr>
        <p:txBody>
          <a:bodyPr wrap="square">
            <a:spAutoFit/>
          </a:bodyPr>
          <a:lstStyle/>
          <a:p>
            <a:pPr marL="0" indent="0">
              <a:buNone/>
            </a:pPr>
            <a:r>
              <a:rPr lang="en-DE" dirty="0"/>
              <a:t>Feeling closest to RWP</a:t>
            </a:r>
          </a:p>
        </p:txBody>
      </p:sp>
      <p:cxnSp>
        <p:nvCxnSpPr>
          <p:cNvPr id="11" name="Straight Arrow Connector 10">
            <a:extLst>
              <a:ext uri="{FF2B5EF4-FFF2-40B4-BE49-F238E27FC236}">
                <a16:creationId xmlns:a16="http://schemas.microsoft.com/office/drawing/2014/main" id="{290F657F-4B0F-1552-5A75-77B55E7FAD30}"/>
              </a:ext>
            </a:extLst>
          </p:cNvPr>
          <p:cNvCxnSpPr>
            <a:cxnSpLocks/>
            <a:stCxn id="5" idx="3"/>
          </p:cNvCxnSpPr>
          <p:nvPr/>
        </p:nvCxnSpPr>
        <p:spPr>
          <a:xfrm flipV="1">
            <a:off x="3153392" y="2944014"/>
            <a:ext cx="954314"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F5569D3-90F1-E69C-B9A5-4A57361074DF}"/>
              </a:ext>
            </a:extLst>
          </p:cNvPr>
          <p:cNvCxnSpPr/>
          <p:nvPr/>
        </p:nvCxnSpPr>
        <p:spPr>
          <a:xfrm flipV="1">
            <a:off x="5863772" y="2888950"/>
            <a:ext cx="1788885"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C0F288A-A562-C409-E1C3-513A8AFBAE80}"/>
              </a:ext>
            </a:extLst>
          </p:cNvPr>
          <p:cNvSpPr txBox="1"/>
          <p:nvPr/>
        </p:nvSpPr>
        <p:spPr>
          <a:xfrm>
            <a:off x="6065845" y="4186854"/>
            <a:ext cx="1384738" cy="369332"/>
          </a:xfrm>
          <a:prstGeom prst="rect">
            <a:avLst/>
          </a:prstGeom>
          <a:noFill/>
        </p:spPr>
        <p:txBody>
          <a:bodyPr wrap="none" rtlCol="0">
            <a:spAutoFit/>
          </a:bodyPr>
          <a:lstStyle/>
          <a:p>
            <a:r>
              <a:rPr lang="en-DE" dirty="0"/>
              <a:t>Confounders</a:t>
            </a:r>
          </a:p>
        </p:txBody>
      </p:sp>
      <p:cxnSp>
        <p:nvCxnSpPr>
          <p:cNvPr id="15" name="Straight Arrow Connector 14">
            <a:extLst>
              <a:ext uri="{FF2B5EF4-FFF2-40B4-BE49-F238E27FC236}">
                <a16:creationId xmlns:a16="http://schemas.microsoft.com/office/drawing/2014/main" id="{2F266174-A89A-05BA-2FB9-57D2977F6B62}"/>
              </a:ext>
            </a:extLst>
          </p:cNvPr>
          <p:cNvCxnSpPr/>
          <p:nvPr/>
        </p:nvCxnSpPr>
        <p:spPr>
          <a:xfrm flipH="1" flipV="1">
            <a:off x="5036457" y="3429000"/>
            <a:ext cx="827315" cy="942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F86F035-A00C-88F1-E732-5ABDCA1E806A}"/>
              </a:ext>
            </a:extLst>
          </p:cNvPr>
          <p:cNvCxnSpPr>
            <a:cxnSpLocks/>
          </p:cNvCxnSpPr>
          <p:nvPr/>
        </p:nvCxnSpPr>
        <p:spPr>
          <a:xfrm flipV="1">
            <a:off x="7802335" y="3315731"/>
            <a:ext cx="694872" cy="904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07D8209-E7C3-36A9-D379-299D9FC01B0E}"/>
              </a:ext>
            </a:extLst>
          </p:cNvPr>
          <p:cNvSpPr txBox="1"/>
          <p:nvPr/>
        </p:nvSpPr>
        <p:spPr>
          <a:xfrm>
            <a:off x="6065845" y="4628984"/>
            <a:ext cx="5641288" cy="1446550"/>
          </a:xfrm>
          <a:prstGeom prst="rect">
            <a:avLst/>
          </a:prstGeom>
          <a:noFill/>
        </p:spPr>
        <p:txBody>
          <a:bodyPr wrap="none" rtlCol="0">
            <a:spAutoFit/>
          </a:bodyPr>
          <a:lstStyle/>
          <a:p>
            <a:r>
              <a:rPr lang="en-DE" dirty="0"/>
              <a:t>- Political Ideology ?</a:t>
            </a:r>
          </a:p>
          <a:p>
            <a:r>
              <a:rPr lang="en-DE" dirty="0"/>
              <a:t> - Exposure to Media – Fixed Effects Controlling for NUTS 3</a:t>
            </a:r>
          </a:p>
          <a:p>
            <a:r>
              <a:rPr lang="en-DE" dirty="0"/>
              <a:t>- Psychological Factors (Individual personally traits) (EFA)</a:t>
            </a:r>
          </a:p>
          <a:p>
            <a:r>
              <a:rPr lang="en-DE" dirty="0"/>
              <a:t>- Trust in politics  </a:t>
            </a:r>
            <a:r>
              <a:rPr lang="en-DE" sz="1400" dirty="0"/>
              <a:t>(Mediator as a consequence of Economic Effects)</a:t>
            </a:r>
          </a:p>
          <a:p>
            <a:r>
              <a:rPr lang="en-DE" sz="1600" dirty="0"/>
              <a:t>-  Elite Cues</a:t>
            </a:r>
          </a:p>
        </p:txBody>
      </p:sp>
      <p:cxnSp>
        <p:nvCxnSpPr>
          <p:cNvPr id="21" name="Straight Arrow Connector 20">
            <a:extLst>
              <a:ext uri="{FF2B5EF4-FFF2-40B4-BE49-F238E27FC236}">
                <a16:creationId xmlns:a16="http://schemas.microsoft.com/office/drawing/2014/main" id="{780D7293-A198-79BA-ADD1-2DBE04DF9CC1}"/>
              </a:ext>
            </a:extLst>
          </p:cNvPr>
          <p:cNvCxnSpPr/>
          <p:nvPr/>
        </p:nvCxnSpPr>
        <p:spPr>
          <a:xfrm flipH="1">
            <a:off x="1563914" y="1356153"/>
            <a:ext cx="725715" cy="1009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033318-AE69-A111-FF8A-A41594BCDF9C}"/>
              </a:ext>
            </a:extLst>
          </p:cNvPr>
          <p:cNvSpPr txBox="1"/>
          <p:nvPr/>
        </p:nvSpPr>
        <p:spPr>
          <a:xfrm>
            <a:off x="1701793" y="910595"/>
            <a:ext cx="2870851" cy="369332"/>
          </a:xfrm>
          <a:prstGeom prst="rect">
            <a:avLst/>
          </a:prstGeom>
          <a:noFill/>
        </p:spPr>
        <p:txBody>
          <a:bodyPr wrap="none" rtlCol="0">
            <a:spAutoFit/>
          </a:bodyPr>
          <a:lstStyle/>
          <a:p>
            <a:r>
              <a:rPr lang="en-GB" dirty="0"/>
              <a:t>U</a:t>
            </a:r>
            <a:r>
              <a:rPr lang="en-DE" dirty="0"/>
              <a:t>nobsevered  confounders ?</a:t>
            </a:r>
          </a:p>
        </p:txBody>
      </p:sp>
      <p:cxnSp>
        <p:nvCxnSpPr>
          <p:cNvPr id="24" name="Straight Arrow Connector 23">
            <a:extLst>
              <a:ext uri="{FF2B5EF4-FFF2-40B4-BE49-F238E27FC236}">
                <a16:creationId xmlns:a16="http://schemas.microsoft.com/office/drawing/2014/main" id="{777724E1-7251-EABF-2BB2-35769DA7BD14}"/>
              </a:ext>
            </a:extLst>
          </p:cNvPr>
          <p:cNvCxnSpPr/>
          <p:nvPr/>
        </p:nvCxnSpPr>
        <p:spPr>
          <a:xfrm>
            <a:off x="2289629" y="1356153"/>
            <a:ext cx="2122714" cy="1209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A5F2BD3-F1C4-43BE-A61A-4A50068BD456}"/>
              </a:ext>
            </a:extLst>
          </p:cNvPr>
          <p:cNvCxnSpPr>
            <a:cxnSpLocks/>
          </p:cNvCxnSpPr>
          <p:nvPr/>
        </p:nvCxnSpPr>
        <p:spPr>
          <a:xfrm>
            <a:off x="2340428" y="1363641"/>
            <a:ext cx="5696857" cy="1261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05A1D32-8872-0616-9125-DAAB20C07EDD}"/>
              </a:ext>
            </a:extLst>
          </p:cNvPr>
          <p:cNvSpPr txBox="1"/>
          <p:nvPr/>
        </p:nvSpPr>
        <p:spPr>
          <a:xfrm>
            <a:off x="2075543" y="6139543"/>
            <a:ext cx="184731" cy="369332"/>
          </a:xfrm>
          <a:prstGeom prst="rect">
            <a:avLst/>
          </a:prstGeom>
          <a:noFill/>
        </p:spPr>
        <p:txBody>
          <a:bodyPr wrap="none" rtlCol="0">
            <a:spAutoFit/>
          </a:bodyPr>
          <a:lstStyle/>
          <a:p>
            <a:endParaRPr lang="en-DE" dirty="0"/>
          </a:p>
        </p:txBody>
      </p:sp>
      <p:sp>
        <p:nvSpPr>
          <p:cNvPr id="8" name="Title 1">
            <a:extLst>
              <a:ext uri="{FF2B5EF4-FFF2-40B4-BE49-F238E27FC236}">
                <a16:creationId xmlns:a16="http://schemas.microsoft.com/office/drawing/2014/main" id="{CABF15CE-C88C-2F99-EDAE-2E7A94F539DB}"/>
              </a:ext>
            </a:extLst>
          </p:cNvPr>
          <p:cNvSpPr txBox="1">
            <a:spLocks/>
          </p:cNvSpPr>
          <p:nvPr/>
        </p:nvSpPr>
        <p:spPr>
          <a:xfrm>
            <a:off x="5700486" y="28223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DE" b="1" dirty="0"/>
              <a:t>DAG Causal Mediation </a:t>
            </a:r>
            <a:br>
              <a:rPr lang="en-DE" b="1" dirty="0"/>
            </a:br>
            <a:endParaRPr lang="en-DE" b="1" dirty="0"/>
          </a:p>
        </p:txBody>
      </p:sp>
      <p:cxnSp>
        <p:nvCxnSpPr>
          <p:cNvPr id="20" name="Straight Arrow Connector 19">
            <a:extLst>
              <a:ext uri="{FF2B5EF4-FFF2-40B4-BE49-F238E27FC236}">
                <a16:creationId xmlns:a16="http://schemas.microsoft.com/office/drawing/2014/main" id="{F1EC4DE4-0711-84AF-792D-7F432D78BEBD}"/>
              </a:ext>
            </a:extLst>
          </p:cNvPr>
          <p:cNvCxnSpPr>
            <a:cxnSpLocks/>
          </p:cNvCxnSpPr>
          <p:nvPr/>
        </p:nvCxnSpPr>
        <p:spPr>
          <a:xfrm flipV="1">
            <a:off x="3132529" y="3152822"/>
            <a:ext cx="4520128" cy="23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71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16B0C-DF4A-65E3-A06D-3D66DBA7E803}"/>
              </a:ext>
            </a:extLst>
          </p:cNvPr>
          <p:cNvSpPr>
            <a:spLocks noGrp="1"/>
          </p:cNvSpPr>
          <p:nvPr>
            <p:ph type="title"/>
          </p:nvPr>
        </p:nvSpPr>
        <p:spPr/>
        <p:txBody>
          <a:bodyPr/>
          <a:lstStyle/>
          <a:p>
            <a:r>
              <a:rPr lang="en-DE" dirty="0"/>
              <a:t>Further Questions </a:t>
            </a:r>
          </a:p>
        </p:txBody>
      </p:sp>
      <p:sp>
        <p:nvSpPr>
          <p:cNvPr id="3" name="Content Placeholder 2">
            <a:extLst>
              <a:ext uri="{FF2B5EF4-FFF2-40B4-BE49-F238E27FC236}">
                <a16:creationId xmlns:a16="http://schemas.microsoft.com/office/drawing/2014/main" id="{78B66AFE-1855-BCBD-1B69-DCE74B39A4F0}"/>
              </a:ext>
            </a:extLst>
          </p:cNvPr>
          <p:cNvSpPr>
            <a:spLocks noGrp="1"/>
          </p:cNvSpPr>
          <p:nvPr>
            <p:ph idx="1"/>
          </p:nvPr>
        </p:nvSpPr>
        <p:spPr/>
        <p:txBody>
          <a:bodyPr>
            <a:normAutofit/>
          </a:bodyPr>
          <a:lstStyle/>
          <a:p>
            <a:pPr algn="l">
              <a:buFont typeface="Arial" panose="020B0604020202020204" pitchFamily="34" charset="0"/>
              <a:buChar char="•"/>
            </a:pPr>
            <a:r>
              <a:rPr lang="en-GB" b="0" i="0" dirty="0">
                <a:solidFill>
                  <a:srgbClr val="333333"/>
                </a:solidFill>
                <a:effectLst/>
                <a:latin typeface="ProximaNova"/>
              </a:rPr>
              <a:t>Political system allows people to have a say in what government does</a:t>
            </a:r>
          </a:p>
          <a:p>
            <a:pPr algn="l">
              <a:buFont typeface="Arial" panose="020B0604020202020204" pitchFamily="34" charset="0"/>
              <a:buChar char="•"/>
            </a:pPr>
            <a:r>
              <a:rPr lang="en-GB" b="0" i="0" dirty="0">
                <a:solidFill>
                  <a:srgbClr val="333333"/>
                </a:solidFill>
                <a:effectLst/>
                <a:latin typeface="ProximaNova"/>
              </a:rPr>
              <a:t>Trust in country's parliament</a:t>
            </a:r>
          </a:p>
          <a:p>
            <a:pPr algn="l">
              <a:buFont typeface="Arial" panose="020B0604020202020204" pitchFamily="34" charset="0"/>
              <a:buChar char="•"/>
            </a:pPr>
            <a:r>
              <a:rPr lang="en-GB" b="0" i="0" dirty="0" err="1">
                <a:solidFill>
                  <a:srgbClr val="333333"/>
                </a:solidFill>
                <a:effectLst/>
                <a:latin typeface="ProximaNova"/>
              </a:rPr>
              <a:t>polintr</a:t>
            </a:r>
            <a:r>
              <a:rPr lang="en-GB" b="0" i="0" dirty="0">
                <a:solidFill>
                  <a:srgbClr val="333333"/>
                </a:solidFill>
                <a:effectLst/>
                <a:latin typeface="ProximaNova"/>
              </a:rPr>
              <a:t> - How interested in politics</a:t>
            </a:r>
            <a:endParaRPr lang="en-GB" dirty="0">
              <a:solidFill>
                <a:srgbClr val="333333"/>
              </a:solidFill>
              <a:latin typeface="ProximaNova"/>
            </a:endParaRPr>
          </a:p>
          <a:p>
            <a:pPr algn="l">
              <a:buFont typeface="Arial" panose="020B0604020202020204" pitchFamily="34" charset="0"/>
              <a:buChar char="•"/>
            </a:pPr>
            <a:r>
              <a:rPr lang="en-GB" b="0" i="0" dirty="0" err="1">
                <a:solidFill>
                  <a:srgbClr val="333333"/>
                </a:solidFill>
                <a:effectLst/>
                <a:latin typeface="ProximaNova"/>
              </a:rPr>
              <a:t>trstplt</a:t>
            </a:r>
            <a:r>
              <a:rPr lang="en-GB" b="0" i="0" dirty="0">
                <a:solidFill>
                  <a:srgbClr val="333333"/>
                </a:solidFill>
                <a:effectLst/>
                <a:latin typeface="ProximaNova"/>
              </a:rPr>
              <a:t> - Trust in politicians</a:t>
            </a:r>
          </a:p>
          <a:p>
            <a:pPr algn="l">
              <a:buFont typeface="Arial" panose="020B0604020202020204" pitchFamily="34" charset="0"/>
              <a:buChar char="•"/>
            </a:pPr>
            <a:r>
              <a:rPr lang="en-GB" b="0" i="0" dirty="0">
                <a:solidFill>
                  <a:srgbClr val="333333"/>
                </a:solidFill>
                <a:effectLst/>
                <a:latin typeface="ProximaNova"/>
              </a:rPr>
              <a:t>How emotionally attached to [country]</a:t>
            </a:r>
          </a:p>
          <a:p>
            <a:pPr algn="l">
              <a:buFont typeface="Arial" panose="020B0604020202020204" pitchFamily="34" charset="0"/>
              <a:buChar char="•"/>
            </a:pPr>
            <a:r>
              <a:rPr lang="en-GB" b="0" i="0" dirty="0">
                <a:solidFill>
                  <a:srgbClr val="333333"/>
                </a:solidFill>
                <a:effectLst/>
                <a:latin typeface="ProximaNova"/>
              </a:rPr>
              <a:t>The media are free to criticise the government</a:t>
            </a:r>
          </a:p>
          <a:p>
            <a:pPr algn="l">
              <a:buFont typeface="Arial" panose="020B0604020202020204" pitchFamily="34" charset="0"/>
              <a:buChar char="•"/>
            </a:pPr>
            <a:r>
              <a:rPr lang="en-GB" b="0" i="0" dirty="0">
                <a:solidFill>
                  <a:srgbClr val="333333"/>
                </a:solidFill>
                <a:effectLst/>
                <a:latin typeface="ProximaNova"/>
              </a:rPr>
              <a:t>National elections are free and fair</a:t>
            </a:r>
          </a:p>
          <a:p>
            <a:r>
              <a:rPr lang="en-GB" b="0" i="0" dirty="0">
                <a:solidFill>
                  <a:srgbClr val="333333"/>
                </a:solidFill>
                <a:effectLst/>
                <a:latin typeface="ProximaNova"/>
              </a:rPr>
              <a:t>How important for you to live in democratically governed country</a:t>
            </a:r>
          </a:p>
          <a:p>
            <a:pPr algn="l">
              <a:buFont typeface="Arial" panose="020B0604020202020204" pitchFamily="34" charset="0"/>
              <a:buChar char="•"/>
            </a:pPr>
            <a:endParaRPr lang="en-GB" dirty="0">
              <a:solidFill>
                <a:srgbClr val="333333"/>
              </a:solidFill>
              <a:latin typeface="ProximaNova"/>
            </a:endParaRPr>
          </a:p>
          <a:p>
            <a:pPr algn="l">
              <a:buFont typeface="Arial" panose="020B0604020202020204" pitchFamily="34" charset="0"/>
              <a:buChar char="•"/>
            </a:pPr>
            <a:endParaRPr lang="en-GB" b="0" i="0" dirty="0">
              <a:solidFill>
                <a:srgbClr val="333333"/>
              </a:solidFill>
              <a:effectLst/>
              <a:latin typeface="ProximaNova"/>
            </a:endParaRPr>
          </a:p>
        </p:txBody>
      </p:sp>
    </p:spTree>
    <p:extLst>
      <p:ext uri="{BB962C8B-B14F-4D97-AF65-F5344CB8AC3E}">
        <p14:creationId xmlns:p14="http://schemas.microsoft.com/office/powerpoint/2010/main" val="2054176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13650</TotalTime>
  <Words>546</Words>
  <Application>Microsoft Macintosh PowerPoint</Application>
  <PresentationFormat>Widescreen</PresentationFormat>
  <Paragraphs>77</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Helvetica</vt:lpstr>
      <vt:lpstr>ProximaNova</vt:lpstr>
      <vt:lpstr>Office Theme</vt:lpstr>
      <vt:lpstr>Economic Determinants of Right Wing Populism &amp; Climate Sceptisim</vt:lpstr>
      <vt:lpstr>PowerPoint Presentation</vt:lpstr>
      <vt:lpstr>PowerPoint Presentation</vt:lpstr>
      <vt:lpstr>PowerPoint Presentation</vt:lpstr>
      <vt:lpstr>Literature on Right Wing Populism &amp; Climate Sceptisim</vt:lpstr>
      <vt:lpstr>Variable Selection &amp; Data</vt:lpstr>
      <vt:lpstr>DAG Causal Mediation  </vt:lpstr>
      <vt:lpstr>PowerPoint Presentation</vt:lpstr>
      <vt:lpstr>Further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Determinants of Right Wing Populism &amp; Climate policy support</dc:title>
  <dc:creator>Finn Krüger</dc:creator>
  <cp:lastModifiedBy>Finn Krüger</cp:lastModifiedBy>
  <cp:revision>8</cp:revision>
  <dcterms:created xsi:type="dcterms:W3CDTF">2024-01-03T08:20:58Z</dcterms:created>
  <dcterms:modified xsi:type="dcterms:W3CDTF">2024-01-12T20:08:59Z</dcterms:modified>
</cp:coreProperties>
</file>